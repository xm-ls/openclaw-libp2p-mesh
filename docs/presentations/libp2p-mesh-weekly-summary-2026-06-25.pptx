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640080"/>
            <a:ext cx="804672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defRPr sz="3000" b="1">
                <a:solidFill>
                  <a:srgbClr val="0F172A"/>
                </a:solidFill>
                <a:latin typeface="Microsoft YaHei"/>
              </a:defRPr>
            </a:pPr>
            <a:r>
              <a:t>OpenClaw libp2p-mesh 插件功能增强汇报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298448"/>
            <a:ext cx="7680960" cy="34747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defRPr sz="1600" b="0">
                <a:solidFill>
                  <a:srgbClr val="475569"/>
                </a:solidFill>
                <a:latin typeface="Microsoft YaHei"/>
              </a:defRPr>
            </a:pPr>
            <a:r>
              <a:t>P2P 消息投递、配置向导与用户属性路由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2240280"/>
            <a:ext cx="301752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2240280"/>
            <a:ext cx="73152" cy="1234440"/>
          </a:xfrm>
          <a:prstGeom prst="rect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78408" y="2395728"/>
            <a:ext cx="2633472" cy="2926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defRPr sz="1400" b="1">
                <a:solidFill>
                  <a:srgbClr val="0F172A"/>
                </a:solidFill>
                <a:latin typeface="Microsoft YaHei"/>
              </a:defRPr>
            </a:pPr>
            <a:r>
              <a:t>P2P 通信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8408" y="2807208"/>
            <a:ext cx="2633472" cy="54864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spcAft>
                <a:spcPts val="500"/>
              </a:spcAft>
              <a:defRPr sz="1150">
                <a:solidFill>
                  <a:srgbClr val="475569"/>
                </a:solidFill>
                <a:latin typeface="Microsoft YaHei"/>
              </a:defRPr>
            </a:pPr>
            <a:r>
              <a:t>实例发现</a:t>
            </a:r>
          </a:p>
          <a:p>
            <a:pPr>
              <a:spcAft>
                <a:spcPts val="500"/>
              </a:spcAft>
              <a:defRPr sz="1150">
                <a:solidFill>
                  <a:srgbClr val="475569"/>
                </a:solidFill>
                <a:latin typeface="Microsoft YaHei"/>
              </a:defRPr>
            </a:pPr>
            <a:r>
              <a:t>instanceId 路由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2240280"/>
            <a:ext cx="301752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434840" y="2240280"/>
            <a:ext cx="73152" cy="123444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36007" y="2395728"/>
            <a:ext cx="2633472" cy="2926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defRPr sz="1400" b="1">
                <a:solidFill>
                  <a:srgbClr val="0F172A"/>
                </a:solidFill>
                <a:latin typeface="Microsoft YaHei"/>
              </a:defRPr>
            </a:pPr>
            <a:r>
              <a:t>投递增强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36007" y="2807208"/>
            <a:ext cx="2633472" cy="54864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spcAft>
                <a:spcPts val="500"/>
              </a:spcAft>
              <a:defRPr sz="1150">
                <a:solidFill>
                  <a:srgbClr val="475569"/>
                </a:solidFill>
                <a:latin typeface="Microsoft YaHei"/>
              </a:defRPr>
            </a:pPr>
            <a:r>
              <a:t>多入站目标</a:t>
            </a:r>
          </a:p>
          <a:p>
            <a:pPr>
              <a:spcAft>
                <a:spcPts val="500"/>
              </a:spcAft>
              <a:defRPr sz="1150">
                <a:solidFill>
                  <a:srgbClr val="475569"/>
                </a:solidFill>
                <a:latin typeface="Microsoft YaHei"/>
              </a:defRPr>
            </a:pPr>
            <a:r>
              <a:t>channel fan-out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92440" y="2240280"/>
            <a:ext cx="301752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92440" y="2240280"/>
            <a:ext cx="73152" cy="1234440"/>
          </a:xfrm>
          <a:prstGeom prst="rect">
            <a:avLst/>
          </a:prstGeom>
          <a:solidFill>
            <a:srgbClr val="16A34A"/>
          </a:solidFill>
          <a:ln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93608" y="2395728"/>
            <a:ext cx="2633472" cy="2926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defRPr sz="1400" b="1">
                <a:solidFill>
                  <a:srgbClr val="0F172A"/>
                </a:solidFill>
                <a:latin typeface="Microsoft YaHei"/>
              </a:defRPr>
            </a:pPr>
            <a:r>
              <a:t>属性路由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93608" y="2807208"/>
            <a:ext cx="2633472" cy="54864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spcAft>
                <a:spcPts val="500"/>
              </a:spcAft>
              <a:defRPr sz="1150">
                <a:solidFill>
                  <a:srgbClr val="475569"/>
                </a:solidFill>
                <a:latin typeface="Microsoft YaHei"/>
              </a:defRPr>
            </a:pPr>
            <a:r>
              <a:t>公开属性</a:t>
            </a:r>
          </a:p>
          <a:p>
            <a:pPr>
              <a:spcAft>
                <a:spcPts val="500"/>
              </a:spcAft>
              <a:defRPr sz="1150">
                <a:solidFill>
                  <a:srgbClr val="475569"/>
                </a:solidFill>
                <a:latin typeface="Microsoft YaHei"/>
              </a:defRPr>
            </a:pPr>
            <a:r>
              <a:t>本地 labels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886200" y="2852928"/>
            <a:ext cx="411480" cy="0"/>
          </a:xfrm>
          <a:prstGeom prst="line">
            <a:avLst/>
          </a:prstGeom>
          <a:ln w="2540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7543800" y="2852928"/>
            <a:ext cx="411479" cy="0"/>
          </a:xfrm>
          <a:prstGeom prst="line">
            <a:avLst/>
          </a:prstGeom>
          <a:ln w="2540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822960" y="4892040"/>
            <a:ext cx="987552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defRPr sz="1700" b="0">
                <a:solidFill>
                  <a:srgbClr val="0F172A"/>
                </a:solidFill>
                <a:latin typeface="Microsoft YaHei"/>
              </a:defRPr>
            </a:pPr>
            <a:r>
              <a:t>本周目标：把插件从“能点对点发消息”推进到“可配置、可多目标投递、可按用户属性寻址”。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510528"/>
            <a:ext cx="4937760" cy="20116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defRPr sz="800" b="0">
                <a:solidFill>
                  <a:srgbClr val="475569"/>
                </a:solidFill>
                <a:latin typeface="Microsoft YaHei"/>
              </a:defRPr>
            </a:pPr>
            <a:r>
              <a:t>汇报 / 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8412480" cy="5029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Microsoft YaHei"/>
              </a:defRPr>
            </a:pPr>
            <a:r>
              <a:t>项目背景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41248"/>
            <a:ext cx="8778240" cy="329184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defRPr sz="1200" b="0">
                <a:solidFill>
                  <a:srgbClr val="475569"/>
                </a:solidFill>
                <a:latin typeface="Microsoft YaHei"/>
              </a:defRPr>
            </a:pPr>
            <a:r>
              <a:t>OpenClaw 实例之间需要更自然、更可靠的 P2P 协作方式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509760" y="384048"/>
            <a:ext cx="2011680" cy="329184"/>
          </a:xfrm>
          <a:prstGeom prst="roundRect">
            <a:avLst/>
          </a:prstGeom>
          <a:solidFill>
            <a:srgbClr val="CCFBF1"/>
          </a:solidFill>
          <a:ln>
            <a:solidFill>
              <a:srgbClr val="CCFB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F766E"/>
                </a:solidFill>
                <a:latin typeface="Microsoft YaHei"/>
              </a:defRPr>
            </a:pPr>
            <a:r>
              <a:t>背景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417320"/>
            <a:ext cx="324612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417320"/>
            <a:ext cx="73152" cy="1325880"/>
          </a:xfrm>
          <a:prstGeom prst="rect">
            <a:avLst/>
          </a:prstGeom>
          <a:solidFill>
            <a:srgbClr val="334155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78408" y="1572768"/>
            <a:ext cx="2862072" cy="2926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defRPr sz="1400" b="1">
                <a:solidFill>
                  <a:srgbClr val="0F172A"/>
                </a:solidFill>
                <a:latin typeface="Microsoft YaHei"/>
              </a:defRPr>
            </a:pPr>
            <a:r>
              <a:t>原始能力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8408" y="1984248"/>
            <a:ext cx="2862072" cy="64008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spcAft>
                <a:spcPts val="500"/>
              </a:spcAft>
              <a:defRPr sz="1150">
                <a:solidFill>
                  <a:srgbClr val="475569"/>
                </a:solidFill>
                <a:latin typeface="Microsoft YaHei"/>
              </a:defRPr>
            </a:pPr>
            <a:r>
              <a:t>按 instanceId 点对点发消息</a:t>
            </a:r>
          </a:p>
          <a:p>
            <a:pPr>
              <a:spcAft>
                <a:spcPts val="500"/>
              </a:spcAft>
              <a:defRPr sz="1150">
                <a:solidFill>
                  <a:srgbClr val="475569"/>
                </a:solidFill>
                <a:latin typeface="Microsoft YaHei"/>
              </a:defRPr>
            </a:pPr>
            <a:r>
              <a:t>适合基础通信验证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60" y="1417320"/>
            <a:ext cx="324612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80560" y="1417320"/>
            <a:ext cx="73152" cy="1325880"/>
          </a:xfrm>
          <a:prstGeom prst="rect">
            <a:avLst/>
          </a:prstGeom>
          <a:solidFill>
            <a:srgbClr val="D97706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81728" y="1572768"/>
            <a:ext cx="2862072" cy="2926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defRPr sz="1400" b="1">
                <a:solidFill>
                  <a:srgbClr val="0F172A"/>
                </a:solidFill>
                <a:latin typeface="Microsoft YaHei"/>
              </a:defRPr>
            </a:pPr>
            <a:r>
              <a:t>真实需求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81728" y="1984248"/>
            <a:ext cx="2862072" cy="64008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spcAft>
                <a:spcPts val="500"/>
              </a:spcAft>
              <a:defRPr sz="1150">
                <a:solidFill>
                  <a:srgbClr val="475569"/>
                </a:solidFill>
                <a:latin typeface="Microsoft YaHei"/>
              </a:defRPr>
            </a:pPr>
            <a:r>
              <a:t>接收端多个会话都能看到</a:t>
            </a:r>
          </a:p>
          <a:p>
            <a:pPr>
              <a:spcAft>
                <a:spcPts val="500"/>
              </a:spcAft>
              <a:defRPr sz="1150">
                <a:solidFill>
                  <a:srgbClr val="475569"/>
                </a:solidFill>
                <a:latin typeface="Microsoft YaHei"/>
              </a:defRPr>
            </a:pPr>
            <a:r>
              <a:t>配置不能依赖手改 JSON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83879" y="1417320"/>
            <a:ext cx="324612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83879" y="1417320"/>
            <a:ext cx="73152" cy="1325880"/>
          </a:xfrm>
          <a:prstGeom prst="rect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85048" y="1572768"/>
            <a:ext cx="2862072" cy="2926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defRPr sz="1400" b="1">
                <a:solidFill>
                  <a:srgbClr val="0F172A"/>
                </a:solidFill>
                <a:latin typeface="Microsoft YaHei"/>
              </a:defRPr>
            </a:pPr>
            <a:r>
              <a:t>本周增强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85048" y="1984248"/>
            <a:ext cx="2862072" cy="64008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spcAft>
                <a:spcPts val="500"/>
              </a:spcAft>
              <a:defRPr sz="1150">
                <a:solidFill>
                  <a:srgbClr val="475569"/>
                </a:solidFill>
                <a:latin typeface="Microsoft YaHei"/>
              </a:defRPr>
            </a:pPr>
            <a:r>
              <a:t>按用户属性选择目标</a:t>
            </a:r>
          </a:p>
          <a:p>
            <a:pPr>
              <a:spcAft>
                <a:spcPts val="500"/>
              </a:spcAft>
              <a:defRPr sz="1150">
                <a:solidFill>
                  <a:srgbClr val="475569"/>
                </a:solidFill>
                <a:latin typeface="Microsoft YaHei"/>
              </a:defRPr>
            </a:pPr>
            <a:r>
              <a:t>Agent 能正确调用工具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3246120"/>
            <a:ext cx="9966960" cy="219456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spcAft>
                <a:spcPts val="900"/>
              </a:spcAft>
              <a:defRPr sz="1800">
                <a:solidFill>
                  <a:srgbClr val="0F172A"/>
                </a:solidFill>
                <a:latin typeface="Microsoft YaHei"/>
              </a:defRPr>
            </a:pPr>
            <a:r>
              <a:t>通信入口从底层 peerId 调试转向面向用户的 instanceId 与属性选择。</a:t>
            </a:r>
          </a:p>
          <a:p>
            <a:pPr>
              <a:spcAft>
                <a:spcPts val="900"/>
              </a:spcAft>
              <a:defRPr sz="1800">
                <a:solidFill>
                  <a:srgbClr val="0F172A"/>
                </a:solidFill>
                <a:latin typeface="Microsoft YaHei"/>
              </a:defRPr>
            </a:pPr>
            <a:r>
              <a:t>接收方保留本地控制权：消息显示在哪些 channel，由接收方配置决定。</a:t>
            </a:r>
          </a:p>
          <a:p>
            <a:pPr>
              <a:spcAft>
                <a:spcPts val="900"/>
              </a:spcAft>
              <a:defRPr sz="1800">
                <a:solidFill>
                  <a:srgbClr val="0F172A"/>
                </a:solidFill>
                <a:latin typeface="Microsoft YaHei"/>
              </a:defRPr>
            </a:pPr>
            <a:r>
              <a:t>配置、提示词、属性和标签都通过插件命令管理，减少用户手动改文件。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510528"/>
            <a:ext cx="4937760" cy="20116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defRPr sz="800" b="0">
                <a:solidFill>
                  <a:srgbClr val="475569"/>
                </a:solidFill>
                <a:latin typeface="Microsoft YaHei"/>
              </a:defRPr>
            </a:pPr>
            <a:r>
              <a:t>OpenClaw libp2p-mesh / 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8412480" cy="5029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Microsoft YaHei"/>
              </a:defRPr>
            </a:pPr>
            <a:r>
              <a:t>本周功能总览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41248"/>
            <a:ext cx="8778240" cy="329184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defRPr sz="1200" b="0">
                <a:solidFill>
                  <a:srgbClr val="475569"/>
                </a:solidFill>
                <a:latin typeface="Microsoft YaHei"/>
              </a:defRPr>
            </a:pPr>
            <a:r>
              <a:t>七个功能围绕“可用性”和“可寻址性”展开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509760" y="384048"/>
            <a:ext cx="2011680" cy="329184"/>
          </a:xfrm>
          <a:prstGeom prst="roundRect">
            <a:avLst/>
          </a:prstGeom>
          <a:solidFill>
            <a:srgbClr val="CCFBF1"/>
          </a:solidFill>
          <a:ln>
            <a:solidFill>
              <a:srgbClr val="CCFB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F766E"/>
                </a:solidFill>
                <a:latin typeface="Microsoft YaHei"/>
              </a:defRPr>
            </a:pPr>
            <a:r>
              <a:t>总览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389888"/>
            <a:ext cx="242316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389888"/>
            <a:ext cx="73152" cy="1417320"/>
          </a:xfrm>
          <a:prstGeom prst="rect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6968" y="1545336"/>
            <a:ext cx="2039112" cy="2926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defRPr sz="1400" b="1">
                <a:solidFill>
                  <a:srgbClr val="0F172A"/>
                </a:solidFill>
                <a:latin typeface="Microsoft YaHei"/>
              </a:defRPr>
            </a:pPr>
            <a:r>
              <a:t>多入站目标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1956816"/>
            <a:ext cx="2039112" cy="7315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spcAft>
                <a:spcPts val="500"/>
              </a:spcAft>
              <a:defRPr sz="1150">
                <a:solidFill>
                  <a:srgbClr val="475569"/>
                </a:solidFill>
                <a:latin typeface="Microsoft YaHei"/>
              </a:defRPr>
            </a:pPr>
            <a:r>
              <a:t>一条 P2P 消息可投递到多个本地 channel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20440" y="1389888"/>
            <a:ext cx="242316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520440" y="1389888"/>
            <a:ext cx="73152" cy="141732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21608" y="1545336"/>
            <a:ext cx="2039112" cy="2926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defRPr sz="1400" b="1">
                <a:solidFill>
                  <a:srgbClr val="0F172A"/>
                </a:solidFill>
                <a:latin typeface="Microsoft YaHei"/>
              </a:defRPr>
            </a:pPr>
            <a:r>
              <a:t>配置向导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21608" y="1956816"/>
            <a:ext cx="2039112" cy="7315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spcAft>
                <a:spcPts val="500"/>
              </a:spcAft>
              <a:defRPr sz="1150">
                <a:solidFill>
                  <a:srgbClr val="475569"/>
                </a:solidFill>
                <a:latin typeface="Microsoft YaHei"/>
              </a:defRPr>
            </a:pPr>
            <a:r>
              <a:t>openclaw libp2p-mesh setup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55080" y="1389888"/>
            <a:ext cx="242316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55080" y="1389888"/>
            <a:ext cx="73152" cy="1417320"/>
          </a:xfrm>
          <a:prstGeom prst="rect">
            <a:avLst/>
          </a:prstGeom>
          <a:solidFill>
            <a:srgbClr val="16A34A"/>
          </a:solidFill>
          <a:ln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56248" y="1545336"/>
            <a:ext cx="2039112" cy="2926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defRPr sz="1400" b="1">
                <a:solidFill>
                  <a:srgbClr val="0F172A"/>
                </a:solidFill>
                <a:latin typeface="Microsoft YaHei"/>
              </a:defRPr>
            </a:pPr>
            <a:r>
              <a:t>提示词安装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56248" y="1956816"/>
            <a:ext cx="2039112" cy="7315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spcAft>
                <a:spcPts val="500"/>
              </a:spcAft>
              <a:defRPr sz="1150">
                <a:solidFill>
                  <a:srgbClr val="475569"/>
                </a:solidFill>
                <a:latin typeface="Microsoft YaHei"/>
              </a:defRPr>
            </a:pPr>
            <a:r>
              <a:t>openclaw libp2p-mesh prompt install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89720" y="1389888"/>
            <a:ext cx="242316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189720" y="1389888"/>
            <a:ext cx="73152" cy="1417320"/>
          </a:xfrm>
          <a:prstGeom prst="rect">
            <a:avLst/>
          </a:prstGeom>
          <a:solidFill>
            <a:srgbClr val="D97706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90888" y="1545336"/>
            <a:ext cx="2039112" cy="2926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defRPr sz="1400" b="1">
                <a:solidFill>
                  <a:srgbClr val="0F172A"/>
                </a:solidFill>
                <a:latin typeface="Microsoft YaHei"/>
              </a:defRPr>
            </a:pPr>
            <a:r>
              <a:t>公开属性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90888" y="1956816"/>
            <a:ext cx="2039112" cy="7315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spcAft>
                <a:spcPts val="500"/>
              </a:spcAft>
              <a:defRPr sz="1150">
                <a:solidFill>
                  <a:srgbClr val="475569"/>
                </a:solidFill>
                <a:latin typeface="Microsoft YaHei"/>
              </a:defRPr>
            </a:pPr>
            <a:r>
              <a:t>USER.md + user-profile.json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3447288"/>
            <a:ext cx="242316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85800" y="3447288"/>
            <a:ext cx="73152" cy="1417320"/>
          </a:xfrm>
          <a:prstGeom prst="rect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86968" y="3602736"/>
            <a:ext cx="2039112" cy="2926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defRPr sz="1400" b="1">
                <a:solidFill>
                  <a:srgbClr val="0F172A"/>
                </a:solidFill>
                <a:latin typeface="Microsoft YaHei"/>
              </a:defRPr>
            </a:pPr>
            <a:r>
              <a:t>LLM 提取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6968" y="4014215"/>
            <a:ext cx="2039112" cy="7315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spcAft>
                <a:spcPts val="500"/>
              </a:spcAft>
              <a:defRPr sz="1150">
                <a:solidFill>
                  <a:srgbClr val="475569"/>
                </a:solidFill>
                <a:latin typeface="Microsoft YaHei"/>
              </a:defRPr>
            </a:pPr>
            <a:r>
              <a:t>runtime llm.complete 提取 USER.md tag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520440" y="3447288"/>
            <a:ext cx="242316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520440" y="3447288"/>
            <a:ext cx="73152" cy="141732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721608" y="3602736"/>
            <a:ext cx="2039112" cy="2926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defRPr sz="1400" b="1">
                <a:solidFill>
                  <a:srgbClr val="0F172A"/>
                </a:solidFill>
                <a:latin typeface="Microsoft YaHei"/>
              </a:defRPr>
            </a:pPr>
            <a:r>
              <a:t>本地 labels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721608" y="4014215"/>
            <a:ext cx="2039112" cy="7315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spcAft>
                <a:spcPts val="500"/>
              </a:spcAft>
              <a:defRPr sz="1150">
                <a:solidFill>
                  <a:srgbClr val="475569"/>
                </a:solidFill>
                <a:latin typeface="Microsoft YaHei"/>
              </a:defRPr>
            </a:pPr>
            <a:r>
              <a:t>peer-labels.json 私有分类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355080" y="3447288"/>
            <a:ext cx="242316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355080" y="3447288"/>
            <a:ext cx="73152" cy="1417320"/>
          </a:xfrm>
          <a:prstGeom prst="rect">
            <a:avLst/>
          </a:prstGeom>
          <a:solidFill>
            <a:srgbClr val="16A34A"/>
          </a:solidFill>
          <a:ln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56248" y="3602736"/>
            <a:ext cx="2039112" cy="2926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defRPr sz="1400" b="1">
                <a:solidFill>
                  <a:srgbClr val="0F172A"/>
                </a:solidFill>
                <a:latin typeface="Microsoft YaHei"/>
              </a:defRPr>
            </a:pPr>
            <a:r>
              <a:t>按属性发送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56248" y="4014215"/>
            <a:ext cx="2039112" cy="7315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spcAft>
                <a:spcPts val="500"/>
              </a:spcAft>
              <a:defRPr sz="1150">
                <a:solidFill>
                  <a:srgbClr val="475569"/>
                </a:solidFill>
                <a:latin typeface="Microsoft YaHei"/>
              </a:defRPr>
            </a:pPr>
            <a:r>
              <a:t>selector + scope 选择目标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6510528"/>
            <a:ext cx="4937760" cy="20116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defRPr sz="800" b="0">
                <a:solidFill>
                  <a:srgbClr val="475569"/>
                </a:solidFill>
                <a:latin typeface="Microsoft YaHei"/>
              </a:defRPr>
            </a:pPr>
            <a:r>
              <a:t>OpenClaw libp2p-mesh / 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8412480" cy="5029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Microsoft YaHei"/>
              </a:defRPr>
            </a:pPr>
            <a:r>
              <a:t>整体架构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41248"/>
            <a:ext cx="8778240" cy="329184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defRPr sz="1200" b="0">
                <a:solidFill>
                  <a:srgbClr val="475569"/>
                </a:solidFill>
                <a:latin typeface="Microsoft YaHei"/>
              </a:defRPr>
            </a:pPr>
            <a:r>
              <a:t>网络、路由、属性和 channel 投递分层处理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509760" y="384048"/>
            <a:ext cx="2011680" cy="329184"/>
          </a:xfrm>
          <a:prstGeom prst="roundRect">
            <a:avLst/>
          </a:prstGeom>
          <a:solidFill>
            <a:srgbClr val="CCFBF1"/>
          </a:solidFill>
          <a:ln>
            <a:solidFill>
              <a:srgbClr val="CCFB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F766E"/>
                </a:solidFill>
                <a:latin typeface="Microsoft YaHei"/>
              </a:defRPr>
            </a:pPr>
            <a:r>
              <a:t>架构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280160"/>
            <a:ext cx="224028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280160"/>
            <a:ext cx="73152" cy="1051560"/>
          </a:xfrm>
          <a:prstGeom prst="rect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6968" y="1435607"/>
            <a:ext cx="1856232" cy="2926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defRPr sz="1400" b="1">
                <a:solidFill>
                  <a:srgbClr val="0F172A"/>
                </a:solidFill>
                <a:latin typeface="Microsoft YaHei"/>
              </a:defRPr>
            </a:pPr>
            <a:r>
              <a:t>OpenClaw Gateway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1847088"/>
            <a:ext cx="1856232" cy="365759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spcAft>
                <a:spcPts val="500"/>
              </a:spcAft>
              <a:defRPr sz="1150">
                <a:solidFill>
                  <a:srgbClr val="475569"/>
                </a:solidFill>
                <a:latin typeface="Microsoft YaHei"/>
              </a:defRPr>
            </a:pPr>
            <a:r>
              <a:t>插件生命周期</a:t>
            </a:r>
          </a:p>
          <a:p>
            <a:pPr>
              <a:spcAft>
                <a:spcPts val="500"/>
              </a:spcAft>
              <a:defRPr sz="1150">
                <a:solidFill>
                  <a:srgbClr val="475569"/>
                </a:solidFill>
                <a:latin typeface="Microsoft YaHei"/>
              </a:defRPr>
            </a:pPr>
            <a:r>
              <a:t>CLI / Tools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46120" y="1280160"/>
            <a:ext cx="224028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246120" y="1280160"/>
            <a:ext cx="73152" cy="105156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47288" y="1435607"/>
            <a:ext cx="1856232" cy="2926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defRPr sz="1400" b="1">
                <a:solidFill>
                  <a:srgbClr val="0F172A"/>
                </a:solidFill>
                <a:latin typeface="Microsoft YaHei"/>
              </a:defRPr>
            </a:pPr>
            <a:r>
              <a:t>libp2p Mesh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47288" y="1847088"/>
            <a:ext cx="1856232" cy="365759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spcAft>
                <a:spcPts val="500"/>
              </a:spcAft>
              <a:defRPr sz="1150">
                <a:solidFill>
                  <a:srgbClr val="475569"/>
                </a:solidFill>
                <a:latin typeface="Microsoft YaHei"/>
              </a:defRPr>
            </a:pPr>
            <a:r>
              <a:t>peer 发现</a:t>
            </a:r>
          </a:p>
          <a:p>
            <a:pPr>
              <a:spcAft>
                <a:spcPts val="500"/>
              </a:spcAft>
              <a:defRPr sz="1150">
                <a:solidFill>
                  <a:srgbClr val="475569"/>
                </a:solidFill>
                <a:latin typeface="Microsoft YaHei"/>
              </a:defRPr>
            </a:pPr>
            <a:r>
              <a:t>消息传输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806440" y="1280160"/>
            <a:ext cx="224028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806440" y="1280160"/>
            <a:ext cx="73152" cy="1051560"/>
          </a:xfrm>
          <a:prstGeom prst="rect">
            <a:avLst/>
          </a:prstGeom>
          <a:solidFill>
            <a:srgbClr val="16A34A"/>
          </a:solidFill>
          <a:ln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07607" y="1435607"/>
            <a:ext cx="1856232" cy="2926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defRPr sz="1400" b="1">
                <a:solidFill>
                  <a:srgbClr val="0F172A"/>
                </a:solidFill>
                <a:latin typeface="Microsoft YaHei"/>
              </a:defRPr>
            </a:pPr>
            <a:r>
              <a:t>InstanceRouter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07607" y="1847088"/>
            <a:ext cx="1856232" cy="365759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spcAft>
                <a:spcPts val="500"/>
              </a:spcAft>
              <a:defRPr sz="1150">
                <a:solidFill>
                  <a:srgbClr val="475569"/>
                </a:solidFill>
                <a:latin typeface="Microsoft YaHei"/>
              </a:defRPr>
            </a:pPr>
            <a:r>
              <a:t>instanceId 路由</a:t>
            </a:r>
          </a:p>
          <a:p>
            <a:pPr>
              <a:spcAft>
                <a:spcPts val="500"/>
              </a:spcAft>
              <a:defRPr sz="1150">
                <a:solidFill>
                  <a:srgbClr val="475569"/>
                </a:solidFill>
                <a:latin typeface="Microsoft YaHei"/>
              </a:defRPr>
            </a:pPr>
            <a:r>
              <a:t>ACK 聚合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366760" y="1280160"/>
            <a:ext cx="246888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366760" y="1280160"/>
            <a:ext cx="73152" cy="1051560"/>
          </a:xfrm>
          <a:prstGeom prst="rect">
            <a:avLst/>
          </a:prstGeom>
          <a:solidFill>
            <a:srgbClr val="D97706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67928" y="1435607"/>
            <a:ext cx="2084832" cy="2926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defRPr sz="1400" b="1">
                <a:solidFill>
                  <a:srgbClr val="0F172A"/>
                </a:solidFill>
                <a:latin typeface="Microsoft YaHei"/>
              </a:defRPr>
            </a:pPr>
            <a:r>
              <a:t>Channel Adapters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67928" y="1847088"/>
            <a:ext cx="2084832" cy="365759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spcAft>
                <a:spcPts val="500"/>
              </a:spcAft>
              <a:defRPr sz="1150">
                <a:solidFill>
                  <a:srgbClr val="475569"/>
                </a:solidFill>
                <a:latin typeface="Microsoft YaHei"/>
              </a:defRPr>
            </a:pPr>
            <a:r>
              <a:t>Feishu / QQBot</a:t>
            </a:r>
          </a:p>
          <a:p>
            <a:pPr>
              <a:spcAft>
                <a:spcPts val="500"/>
              </a:spcAft>
              <a:defRPr sz="1150">
                <a:solidFill>
                  <a:srgbClr val="475569"/>
                </a:solidFill>
                <a:latin typeface="Microsoft YaHei"/>
              </a:defRPr>
            </a:pPr>
            <a:r>
              <a:t>Telegram 等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2971800" y="1810512"/>
            <a:ext cx="182880" cy="0"/>
          </a:xfrm>
          <a:prstGeom prst="line">
            <a:avLst/>
          </a:prstGeom>
          <a:ln w="2540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532120" y="1810512"/>
            <a:ext cx="182880" cy="0"/>
          </a:xfrm>
          <a:prstGeom prst="line">
            <a:avLst/>
          </a:prstGeom>
          <a:ln w="2540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8092440" y="1810512"/>
            <a:ext cx="182880" cy="0"/>
          </a:xfrm>
          <a:prstGeom prst="line">
            <a:avLst/>
          </a:prstGeom>
          <a:ln w="2540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914400" y="3154680"/>
            <a:ext cx="260604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14400" y="3154680"/>
            <a:ext cx="73152" cy="1097280"/>
          </a:xfrm>
          <a:prstGeom prst="rect">
            <a:avLst/>
          </a:prstGeom>
          <a:solidFill>
            <a:srgbClr val="334155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15568" y="3310128"/>
            <a:ext cx="2221992" cy="2926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defRPr sz="1400" b="1">
                <a:solidFill>
                  <a:srgbClr val="0F172A"/>
                </a:solidFill>
                <a:latin typeface="Microsoft YaHei"/>
              </a:defRPr>
            </a:pPr>
            <a:r>
              <a:t>instance-peer.json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15568" y="3721608"/>
            <a:ext cx="2221992" cy="411479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spcAft>
                <a:spcPts val="500"/>
              </a:spcAft>
              <a:defRPr sz="1150">
                <a:solidFill>
                  <a:srgbClr val="475569"/>
                </a:solidFill>
                <a:latin typeface="Microsoft YaHei"/>
              </a:defRPr>
            </a:pPr>
            <a:r>
              <a:t>缓存 instanceId -&gt; peerId</a:t>
            </a:r>
          </a:p>
          <a:p>
            <a:pPr>
              <a:spcAft>
                <a:spcPts val="500"/>
              </a:spcAft>
              <a:defRPr sz="1150">
                <a:solidFill>
                  <a:srgbClr val="475569"/>
                </a:solidFill>
                <a:latin typeface="Microsoft YaHei"/>
              </a:defRPr>
            </a:pPr>
            <a:r>
              <a:t>保存公开属性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886200" y="3154680"/>
            <a:ext cx="260604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886200" y="3154680"/>
            <a:ext cx="73152" cy="1097280"/>
          </a:xfrm>
          <a:prstGeom prst="rect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087368" y="3310128"/>
            <a:ext cx="2221992" cy="2926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defRPr sz="1400" b="1">
                <a:solidFill>
                  <a:srgbClr val="0F172A"/>
                </a:solidFill>
                <a:latin typeface="Microsoft YaHei"/>
              </a:defRPr>
            </a:pPr>
            <a:r>
              <a:t>user-profile.json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087368" y="3721608"/>
            <a:ext cx="2221992" cy="411479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spcAft>
                <a:spcPts val="500"/>
              </a:spcAft>
              <a:defRPr sz="1150">
                <a:solidFill>
                  <a:srgbClr val="475569"/>
                </a:solidFill>
                <a:latin typeface="Microsoft YaHei"/>
              </a:defRPr>
            </a:pPr>
            <a:r>
              <a:t>手动公开结构化属性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858000" y="3154680"/>
            <a:ext cx="260604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858000" y="3154680"/>
            <a:ext cx="73152" cy="1097280"/>
          </a:xfrm>
          <a:prstGeom prst="rect">
            <a:avLst/>
          </a:prstGeom>
          <a:solidFill>
            <a:srgbClr val="16A34A"/>
          </a:solidFill>
          <a:ln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059168" y="3310128"/>
            <a:ext cx="2221992" cy="2926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defRPr sz="1400" b="1">
                <a:solidFill>
                  <a:srgbClr val="0F172A"/>
                </a:solidFill>
                <a:latin typeface="Microsoft YaHei"/>
              </a:defRPr>
            </a:pPr>
            <a:r>
              <a:t>peer-labels.json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059168" y="3721608"/>
            <a:ext cx="2221992" cy="411479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spcAft>
                <a:spcPts val="500"/>
              </a:spcAft>
              <a:defRPr sz="1150">
                <a:solidFill>
                  <a:srgbClr val="475569"/>
                </a:solidFill>
                <a:latin typeface="Microsoft YaHei"/>
              </a:defRPr>
            </a:pPr>
            <a:r>
              <a:t>本机私有远端标签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" y="4892040"/>
            <a:ext cx="9966960" cy="77724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spcAft>
                <a:spcPts val="900"/>
              </a:spcAft>
              <a:defRPr sz="1700">
                <a:solidFill>
                  <a:srgbClr val="0F172A"/>
                </a:solidFill>
                <a:latin typeface="Microsoft YaHei"/>
              </a:defRPr>
            </a:pPr>
            <a:r>
              <a:t>核心设计：发送方只负责选择实例或属性，接收方保留 channel 投递控制权。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" y="6510528"/>
            <a:ext cx="4937760" cy="20116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defRPr sz="800" b="0">
                <a:solidFill>
                  <a:srgbClr val="475569"/>
                </a:solidFill>
                <a:latin typeface="Microsoft YaHei"/>
              </a:defRPr>
            </a:pPr>
            <a:r>
              <a:t>OpenClaw libp2p-mesh / 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8412480" cy="5029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Microsoft YaHei"/>
              </a:defRPr>
            </a:pPr>
            <a:r>
              <a:t>功能一：多入站目标投递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41248"/>
            <a:ext cx="8778240" cy="329184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defRPr sz="1200" b="0">
                <a:solidFill>
                  <a:srgbClr val="475569"/>
                </a:solidFill>
                <a:latin typeface="Microsoft YaHei"/>
              </a:defRPr>
            </a:pPr>
            <a:r>
              <a:t>接收方可以把同一条 P2P 消息投递到多个本地会话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509760" y="384048"/>
            <a:ext cx="2011680" cy="329184"/>
          </a:xfrm>
          <a:prstGeom prst="roundRect">
            <a:avLst/>
          </a:prstGeom>
          <a:solidFill>
            <a:srgbClr val="CCFBF1"/>
          </a:solidFill>
          <a:ln>
            <a:solidFill>
              <a:srgbClr val="CCFB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F766E"/>
                </a:solidFill>
                <a:latin typeface="Microsoft YaHei"/>
              </a:defRPr>
            </a:pPr>
            <a:r>
              <a:t>投递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234440"/>
            <a:ext cx="4800600" cy="214884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41832" y="1371600"/>
            <a:ext cx="4471416" cy="18745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spcAft>
                <a:spcPts val="200"/>
              </a:spcAft>
              <a:defRPr sz="1050">
                <a:solidFill>
                  <a:srgbClr val="E2E8F0"/>
                </a:solidFill>
                <a:latin typeface="Cascadia Mono"/>
              </a:defRPr>
            </a:pPr>
            <a:r>
              <a:t>"inboundTargets": [</a:t>
            </a:r>
          </a:p>
          <a:p>
            <a:pPr>
              <a:spcAft>
                <a:spcPts val="200"/>
              </a:spcAft>
              <a:defRPr sz="1050">
                <a:solidFill>
                  <a:srgbClr val="E2E8F0"/>
                </a:solidFill>
                <a:latin typeface="Cascadia Mono"/>
              </a:defRPr>
            </a:pPr>
            <a:r>
              <a:t>  { "id": "feishu-main",</a:t>
            </a:r>
          </a:p>
          <a:p>
            <a:pPr>
              <a:spcAft>
                <a:spcPts val="200"/>
              </a:spcAft>
              <a:defRPr sz="1050">
                <a:solidFill>
                  <a:srgbClr val="E2E8F0"/>
                </a:solidFill>
                <a:latin typeface="Cascadia Mono"/>
              </a:defRPr>
            </a:pPr>
            <a:r>
              <a:t>    "channel": "feishu",</a:t>
            </a:r>
          </a:p>
          <a:p>
            <a:pPr>
              <a:spcAft>
                <a:spcPts val="200"/>
              </a:spcAft>
              <a:defRPr sz="1050">
                <a:solidFill>
                  <a:srgbClr val="E2E8F0"/>
                </a:solidFill>
                <a:latin typeface="Cascadia Mono"/>
              </a:defRPr>
            </a:pPr>
            <a:r>
              <a:t>    "target": "user:ou_xxx" },</a:t>
            </a:r>
          </a:p>
          <a:p>
            <a:pPr>
              <a:spcAft>
                <a:spcPts val="200"/>
              </a:spcAft>
              <a:defRPr sz="1050">
                <a:solidFill>
                  <a:srgbClr val="E2E8F0"/>
                </a:solidFill>
                <a:latin typeface="Cascadia Mono"/>
              </a:defRPr>
            </a:pPr>
            <a:r>
              <a:t>  { "id": "qqbot-main",</a:t>
            </a:r>
          </a:p>
          <a:p>
            <a:pPr>
              <a:spcAft>
                <a:spcPts val="200"/>
              </a:spcAft>
              <a:defRPr sz="1050">
                <a:solidFill>
                  <a:srgbClr val="E2E8F0"/>
                </a:solidFill>
                <a:latin typeface="Cascadia Mono"/>
              </a:defRPr>
            </a:pPr>
            <a:r>
              <a:t>    "channel": "qqbot",</a:t>
            </a:r>
          </a:p>
          <a:p>
            <a:pPr>
              <a:spcAft>
                <a:spcPts val="200"/>
              </a:spcAft>
              <a:defRPr sz="1050">
                <a:solidFill>
                  <a:srgbClr val="E2E8F0"/>
                </a:solidFill>
                <a:latin typeface="Cascadia Mono"/>
              </a:defRPr>
            </a:pPr>
            <a:r>
              <a:t>    "target": "c2c:xxx" }</a:t>
            </a:r>
          </a:p>
          <a:p>
            <a:pPr>
              <a:spcAft>
                <a:spcPts val="200"/>
              </a:spcAft>
              <a:defRPr sz="1050">
                <a:solidFill>
                  <a:srgbClr val="E2E8F0"/>
                </a:solidFill>
                <a:latin typeface="Cascadia Mono"/>
              </a:defRPr>
            </a:pPr>
            <a:r>
              <a:t>]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80760" y="1325880"/>
            <a:ext cx="242316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080760" y="1325880"/>
            <a:ext cx="73152" cy="1143000"/>
          </a:xfrm>
          <a:prstGeom prst="rect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81928" y="1481328"/>
            <a:ext cx="2039112" cy="2926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defRPr sz="1400" b="1">
                <a:solidFill>
                  <a:srgbClr val="0F172A"/>
                </a:solidFill>
                <a:latin typeface="Microsoft YaHei"/>
              </a:defRPr>
            </a:pPr>
            <a:r>
              <a:t>发送方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81928" y="1892807"/>
            <a:ext cx="2039112" cy="4572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spcAft>
                <a:spcPts val="500"/>
              </a:spcAft>
              <a:defRPr sz="1150">
                <a:solidFill>
                  <a:srgbClr val="475569"/>
                </a:solidFill>
                <a:latin typeface="Microsoft YaHei"/>
              </a:defRPr>
            </a:pPr>
            <a:r>
              <a:t>只知道 instanceId</a:t>
            </a:r>
          </a:p>
          <a:p>
            <a:pPr>
              <a:spcAft>
                <a:spcPts val="500"/>
              </a:spcAft>
              <a:defRPr sz="1150">
                <a:solidFill>
                  <a:srgbClr val="475569"/>
                </a:solidFill>
                <a:latin typeface="Microsoft YaHei"/>
              </a:defRPr>
            </a:pPr>
            <a:r>
              <a:t>不选择远端 channel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61120" y="1325880"/>
            <a:ext cx="242316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961120" y="1325880"/>
            <a:ext cx="73152" cy="1143000"/>
          </a:xfrm>
          <a:prstGeom prst="rect">
            <a:avLst/>
          </a:prstGeom>
          <a:solidFill>
            <a:srgbClr val="16A34A"/>
          </a:solidFill>
          <a:ln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62288" y="1481328"/>
            <a:ext cx="2039112" cy="2926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defRPr sz="1400" b="1">
                <a:solidFill>
                  <a:srgbClr val="0F172A"/>
                </a:solidFill>
                <a:latin typeface="Microsoft YaHei"/>
              </a:defRPr>
            </a:pPr>
            <a:r>
              <a:t>接收方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62288" y="1892807"/>
            <a:ext cx="2039112" cy="4572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spcAft>
                <a:spcPts val="500"/>
              </a:spcAft>
              <a:defRPr sz="1150">
                <a:solidFill>
                  <a:srgbClr val="475569"/>
                </a:solidFill>
                <a:latin typeface="Microsoft YaHei"/>
              </a:defRPr>
            </a:pPr>
            <a:r>
              <a:t>本地 fan-out</a:t>
            </a:r>
          </a:p>
          <a:p>
            <a:pPr>
              <a:spcAft>
                <a:spcPts val="500"/>
              </a:spcAft>
              <a:defRPr sz="1150">
                <a:solidFill>
                  <a:srgbClr val="475569"/>
                </a:solidFill>
                <a:latin typeface="Microsoft YaHei"/>
              </a:defRPr>
            </a:pPr>
            <a:r>
              <a:t>汇总投递结果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549640" y="1901952"/>
            <a:ext cx="274320" cy="0"/>
          </a:xfrm>
          <a:prstGeom prst="line">
            <a:avLst/>
          </a:prstGeom>
          <a:ln w="2540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6126480" y="3063240"/>
            <a:ext cx="5074920" cy="196596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spcAft>
                <a:spcPts val="900"/>
              </a:spcAft>
              <a:defRPr sz="1600">
                <a:solidFill>
                  <a:srgbClr val="0F172A"/>
                </a:solidFill>
                <a:latin typeface="Microsoft YaHei"/>
              </a:defRPr>
            </a:pPr>
            <a:r>
              <a:t>P2P 协议层仍只发送一条 user-message。</a:t>
            </a:r>
          </a:p>
          <a:p>
            <a:pPr>
              <a:spcAft>
                <a:spcPts val="900"/>
              </a:spcAft>
              <a:defRPr sz="1600">
                <a:solidFill>
                  <a:srgbClr val="0F172A"/>
                </a:solidFill>
                <a:latin typeface="Microsoft YaHei"/>
              </a:defRPr>
            </a:pPr>
            <a:r>
              <a:t>多个目标的投递结果通过 delivery ACK 返回。</a:t>
            </a:r>
          </a:p>
          <a:p>
            <a:pPr>
              <a:spcAft>
                <a:spcPts val="900"/>
              </a:spcAft>
              <a:defRPr sz="1600">
                <a:solidFill>
                  <a:srgbClr val="0F172A"/>
                </a:solidFill>
                <a:latin typeface="Microsoft YaHei"/>
              </a:defRPr>
            </a:pPr>
            <a:r>
              <a:t>旧的 inboundChannel / inboundTarget 仍保持兼容。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510528"/>
            <a:ext cx="4937760" cy="20116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defRPr sz="800" b="0">
                <a:solidFill>
                  <a:srgbClr val="475569"/>
                </a:solidFill>
                <a:latin typeface="Microsoft YaHei"/>
              </a:defRPr>
            </a:pPr>
            <a:r>
              <a:t>OpenClaw libp2p-mesh / 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8412480" cy="5029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Microsoft YaHei"/>
              </a:defRPr>
            </a:pPr>
            <a:r>
              <a:t>功能二：配置向导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41248"/>
            <a:ext cx="8778240" cy="329184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defRPr sz="1200" b="0">
                <a:solidFill>
                  <a:srgbClr val="475569"/>
                </a:solidFill>
                <a:latin typeface="Microsoft YaHei"/>
              </a:defRPr>
            </a:pPr>
            <a:r>
              <a:t>把手动修改 openclaw.json 变成插件自有 CLI 流程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509760" y="384048"/>
            <a:ext cx="2011680" cy="329184"/>
          </a:xfrm>
          <a:prstGeom prst="roundRect">
            <a:avLst/>
          </a:prstGeom>
          <a:solidFill>
            <a:srgbClr val="CCFBF1"/>
          </a:solidFill>
          <a:ln>
            <a:solidFill>
              <a:srgbClr val="CCFB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F766E"/>
                </a:solidFill>
                <a:latin typeface="Microsoft YaHei"/>
              </a:defRPr>
            </a:pPr>
            <a:r>
              <a:t>配置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261872"/>
            <a:ext cx="4069080" cy="82296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41832" y="1399031"/>
            <a:ext cx="3739896" cy="54864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spcAft>
                <a:spcPts val="200"/>
              </a:spcAft>
              <a:defRPr sz="1050">
                <a:solidFill>
                  <a:srgbClr val="E2E8F0"/>
                </a:solidFill>
                <a:latin typeface="Cascadia Mono"/>
              </a:defRPr>
            </a:pPr>
            <a:r>
              <a:t>openclaw libp2p-mesh setup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514600"/>
            <a:ext cx="4892040" cy="20574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spcAft>
                <a:spcPts val="900"/>
              </a:spcAft>
              <a:defRPr sz="1700">
                <a:solidFill>
                  <a:srgbClr val="0F172A"/>
                </a:solidFill>
                <a:latin typeface="Microsoft YaHei"/>
              </a:defRPr>
            </a:pPr>
            <a:r>
              <a:t>只写 plugins.entries["libp2p-mesh"]。</a:t>
            </a:r>
          </a:p>
          <a:p>
            <a:pPr>
              <a:spcAft>
                <a:spcPts val="900"/>
              </a:spcAft>
              <a:defRPr sz="1700">
                <a:solidFill>
                  <a:srgbClr val="0F172A"/>
                </a:solidFill>
                <a:latin typeface="Microsoft YaHei"/>
              </a:defRPr>
            </a:pPr>
            <a:r>
              <a:t>支持首次配置和已有配置编辑。</a:t>
            </a:r>
          </a:p>
          <a:p>
            <a:pPr>
              <a:spcAft>
                <a:spcPts val="900"/>
              </a:spcAft>
              <a:defRPr sz="1700">
                <a:solidFill>
                  <a:srgbClr val="0F172A"/>
                </a:solidFill>
                <a:latin typeface="Microsoft YaHei"/>
              </a:defRPr>
            </a:pPr>
            <a:r>
              <a:t>所有修改先 preview，确认后再写入。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234440"/>
            <a:ext cx="233172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172200" y="1234440"/>
            <a:ext cx="73152" cy="1051560"/>
          </a:xfrm>
          <a:prstGeom prst="rect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73368" y="1389888"/>
            <a:ext cx="1947672" cy="2926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defRPr sz="1400" b="1">
                <a:solidFill>
                  <a:srgbClr val="0F172A"/>
                </a:solidFill>
                <a:latin typeface="Microsoft YaHei"/>
              </a:defRPr>
            </a:pPr>
            <a:r>
              <a:t>LAN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73368" y="1801368"/>
            <a:ext cx="1947672" cy="365759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spcAft>
                <a:spcPts val="500"/>
              </a:spcAft>
              <a:defRPr sz="1150">
                <a:solidFill>
                  <a:srgbClr val="475569"/>
                </a:solidFill>
                <a:latin typeface="Microsoft YaHei"/>
              </a:defRPr>
            </a:pPr>
            <a:r>
              <a:t>同局域网自动发现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15400" y="1234440"/>
            <a:ext cx="233172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915400" y="1234440"/>
            <a:ext cx="73152" cy="105156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16568" y="1389888"/>
            <a:ext cx="1947672" cy="2926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defRPr sz="1400" b="1">
                <a:solidFill>
                  <a:srgbClr val="0F172A"/>
                </a:solidFill>
                <a:latin typeface="Microsoft YaHei"/>
              </a:defRPr>
            </a:pPr>
            <a:r>
              <a:t>Cross-network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16568" y="1801368"/>
            <a:ext cx="1947672" cy="365759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spcAft>
                <a:spcPts val="500"/>
              </a:spcAft>
              <a:defRPr sz="1150">
                <a:solidFill>
                  <a:srgbClr val="475569"/>
                </a:solidFill>
                <a:latin typeface="Microsoft YaHei"/>
              </a:defRPr>
            </a:pPr>
            <a:r>
              <a:t>bootstrap / relay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2200" y="2743200"/>
            <a:ext cx="233172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72200" y="2743200"/>
            <a:ext cx="73152" cy="1051560"/>
          </a:xfrm>
          <a:prstGeom prst="rect">
            <a:avLst/>
          </a:prstGeom>
          <a:solidFill>
            <a:srgbClr val="16A34A"/>
          </a:solidFill>
          <a:ln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73368" y="2898648"/>
            <a:ext cx="1947672" cy="2926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defRPr sz="1400" b="1">
                <a:solidFill>
                  <a:srgbClr val="0F172A"/>
                </a:solidFill>
                <a:latin typeface="Microsoft YaHei"/>
              </a:defRPr>
            </a:pPr>
            <a:r>
              <a:t>Relay node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73368" y="3310128"/>
            <a:ext cx="1947672" cy="365759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spcAft>
                <a:spcPts val="500"/>
              </a:spcAft>
              <a:defRPr sz="1150">
                <a:solidFill>
                  <a:srgbClr val="475569"/>
                </a:solidFill>
                <a:latin typeface="Microsoft YaHei"/>
              </a:defRPr>
            </a:pPr>
            <a:r>
              <a:t>公网节点做中继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915400" y="2743200"/>
            <a:ext cx="233172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915400" y="2743200"/>
            <a:ext cx="73152" cy="1051560"/>
          </a:xfrm>
          <a:prstGeom prst="rect">
            <a:avLst/>
          </a:prstGeom>
          <a:solidFill>
            <a:srgbClr val="D97706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16568" y="2898648"/>
            <a:ext cx="1947672" cy="2926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defRPr sz="1400" b="1">
                <a:solidFill>
                  <a:srgbClr val="0F172A"/>
                </a:solidFill>
                <a:latin typeface="Microsoft YaHei"/>
              </a:defRPr>
            </a:pPr>
            <a:r>
              <a:t>Tools only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16568" y="3310128"/>
            <a:ext cx="1947672" cy="365759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spcAft>
                <a:spcPts val="500"/>
              </a:spcAft>
              <a:defRPr sz="1150">
                <a:solidFill>
                  <a:srgbClr val="475569"/>
                </a:solidFill>
                <a:latin typeface="Microsoft YaHei"/>
              </a:defRPr>
            </a:pPr>
            <a:r>
              <a:t>只启用工具能力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9360" y="4572000"/>
            <a:ext cx="4754880" cy="59436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spcAft>
                <a:spcPts val="900"/>
              </a:spcAft>
              <a:defRPr sz="1600">
                <a:solidFill>
                  <a:srgbClr val="0F172A"/>
                </a:solidFill>
                <a:latin typeface="Microsoft YaHei"/>
              </a:defRPr>
            </a:pPr>
            <a:r>
              <a:t>同时完成网络模式和多入站目标配置。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6510528"/>
            <a:ext cx="4937760" cy="20116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defRPr sz="800" b="0">
                <a:solidFill>
                  <a:srgbClr val="475569"/>
                </a:solidFill>
                <a:latin typeface="Microsoft YaHei"/>
              </a:defRPr>
            </a:pPr>
            <a:r>
              <a:t>OpenClaw libp2p-mesh / 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8412480" cy="5029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Microsoft YaHei"/>
              </a:defRPr>
            </a:pPr>
            <a:r>
              <a:t>功能三：固定 Agent 提示词安装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41248"/>
            <a:ext cx="8778240" cy="329184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defRPr sz="1200" b="0">
                <a:solidFill>
                  <a:srgbClr val="475569"/>
                </a:solidFill>
                <a:latin typeface="Microsoft YaHei"/>
              </a:defRPr>
            </a:pPr>
            <a:r>
              <a:t>让 Agent 知道何时调用哪个 P2P 工具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509760" y="384048"/>
            <a:ext cx="2011680" cy="329184"/>
          </a:xfrm>
          <a:prstGeom prst="roundRect">
            <a:avLst/>
          </a:prstGeom>
          <a:solidFill>
            <a:srgbClr val="CCFBF1"/>
          </a:solidFill>
          <a:ln>
            <a:solidFill>
              <a:srgbClr val="CCFB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F766E"/>
                </a:solidFill>
                <a:latin typeface="Microsoft YaHei"/>
              </a:defRPr>
            </a:pPr>
            <a:r>
              <a:t>Agent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234440"/>
            <a:ext cx="4663440" cy="105156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87552" y="1371600"/>
            <a:ext cx="4334255" cy="777239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spcAft>
                <a:spcPts val="200"/>
              </a:spcAft>
              <a:defRPr sz="1050">
                <a:solidFill>
                  <a:srgbClr val="E2E8F0"/>
                </a:solidFill>
                <a:latin typeface="Cascadia Mono"/>
              </a:defRPr>
            </a:pPr>
            <a:r>
              <a:t>openclaw libp2p-mesh prompt install</a:t>
            </a:r>
          </a:p>
          <a:p>
            <a:pPr>
              <a:spcAft>
                <a:spcPts val="200"/>
              </a:spcAft>
              <a:defRPr sz="1050">
                <a:solidFill>
                  <a:srgbClr val="E2E8F0"/>
                </a:solidFill>
                <a:latin typeface="Cascadia Mono"/>
              </a:defRPr>
            </a:pPr>
            <a:r>
              <a:t>~/.openclaw/workspace/AGENTS.md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2834640"/>
            <a:ext cx="301752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68680" y="2834640"/>
            <a:ext cx="73152" cy="1280160"/>
          </a:xfrm>
          <a:prstGeom prst="rect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69848" y="2990088"/>
            <a:ext cx="2633472" cy="2926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defRPr sz="1400" b="1">
                <a:solidFill>
                  <a:srgbClr val="0F172A"/>
                </a:solidFill>
                <a:latin typeface="Microsoft YaHei"/>
              </a:defRPr>
            </a:pPr>
            <a:r>
              <a:t>管理区块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9848" y="3401568"/>
            <a:ext cx="2633472" cy="594359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spcAft>
                <a:spcPts val="500"/>
              </a:spcAft>
              <a:defRPr sz="1150">
                <a:solidFill>
                  <a:srgbClr val="475569"/>
                </a:solidFill>
                <a:latin typeface="Microsoft YaHei"/>
              </a:defRPr>
            </a:pPr>
            <a:r>
              <a:t>只替换插件自己的 marker 区块</a:t>
            </a:r>
          </a:p>
          <a:p>
            <a:pPr>
              <a:spcAft>
                <a:spcPts val="500"/>
              </a:spcAft>
              <a:defRPr sz="1150">
                <a:solidFill>
                  <a:srgbClr val="475569"/>
                </a:solidFill>
                <a:latin typeface="Microsoft YaHei"/>
              </a:defRPr>
            </a:pPr>
            <a:r>
              <a:t>不覆盖用户原有内容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34840" y="2834640"/>
            <a:ext cx="301752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34840" y="2834640"/>
            <a:ext cx="73152" cy="128016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36007" y="2990088"/>
            <a:ext cx="2633472" cy="2926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defRPr sz="1400" b="1">
                <a:solidFill>
                  <a:srgbClr val="0F172A"/>
                </a:solidFill>
                <a:latin typeface="Microsoft YaHei"/>
              </a:defRPr>
            </a:pPr>
            <a:r>
              <a:t>工具选择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36007" y="3401568"/>
            <a:ext cx="2633472" cy="594359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spcAft>
                <a:spcPts val="500"/>
              </a:spcAft>
              <a:defRPr sz="1150">
                <a:solidFill>
                  <a:srgbClr val="475569"/>
                </a:solidFill>
                <a:latin typeface="Microsoft YaHei"/>
              </a:defRPr>
            </a:pPr>
            <a:r>
              <a:t>instanceId -&gt; send_instance</a:t>
            </a:r>
          </a:p>
          <a:p>
            <a:pPr>
              <a:spcAft>
                <a:spcPts val="500"/>
              </a:spcAft>
              <a:defRPr sz="1150">
                <a:solidFill>
                  <a:srgbClr val="475569"/>
                </a:solidFill>
                <a:latin typeface="Microsoft YaHei"/>
              </a:defRPr>
            </a:pPr>
            <a:r>
              <a:t>属性 -&gt; send_attribute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01000" y="2834640"/>
            <a:ext cx="301752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01000" y="2834640"/>
            <a:ext cx="73152" cy="1280160"/>
          </a:xfrm>
          <a:prstGeom prst="rect">
            <a:avLst/>
          </a:prstGeom>
          <a:solidFill>
            <a:srgbClr val="16A34A"/>
          </a:solidFill>
          <a:ln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02168" y="2990088"/>
            <a:ext cx="2633472" cy="2926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defRPr sz="1400" b="1">
                <a:solidFill>
                  <a:srgbClr val="0F172A"/>
                </a:solidFill>
                <a:latin typeface="Microsoft YaHei"/>
              </a:defRPr>
            </a:pPr>
            <a:r>
              <a:t>安全规则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02168" y="3401568"/>
            <a:ext cx="2633472" cy="594359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spcAft>
                <a:spcPts val="500"/>
              </a:spcAft>
              <a:defRPr sz="1150">
                <a:solidFill>
                  <a:srgbClr val="475569"/>
                </a:solidFill>
                <a:latin typeface="Microsoft YaHei"/>
              </a:defRPr>
            </a:pPr>
            <a:r>
              <a:t>P2P 消息只当普通文本</a:t>
            </a:r>
          </a:p>
          <a:p>
            <a:pPr>
              <a:spcAft>
                <a:spcPts val="500"/>
              </a:spcAft>
              <a:defRPr sz="1150">
                <a:solidFill>
                  <a:srgbClr val="475569"/>
                </a:solidFill>
                <a:latin typeface="Microsoft YaHei"/>
              </a:defRPr>
            </a:pPr>
            <a:r>
              <a:t>不执行远端指令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510528"/>
            <a:ext cx="4937760" cy="20116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defRPr sz="800" b="0">
                <a:solidFill>
                  <a:srgbClr val="475569"/>
                </a:solidFill>
                <a:latin typeface="Microsoft YaHei"/>
              </a:defRPr>
            </a:pPr>
            <a:r>
              <a:t>OpenClaw libp2p-mesh / 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8412480" cy="5029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Microsoft YaHei"/>
              </a:defRPr>
            </a:pPr>
            <a:r>
              <a:t>功能四：用户公开属性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41248"/>
            <a:ext cx="8778240" cy="329184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defRPr sz="1200" b="0">
                <a:solidFill>
                  <a:srgbClr val="475569"/>
                </a:solidFill>
                <a:latin typeface="Microsoft YaHei"/>
              </a:defRPr>
            </a:pPr>
            <a:r>
              <a:t>让实例携带“用户是谁、属于哪里、做什么”的公开信息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509760" y="384048"/>
            <a:ext cx="2011680" cy="329184"/>
          </a:xfrm>
          <a:prstGeom prst="roundRect">
            <a:avLst/>
          </a:prstGeom>
          <a:solidFill>
            <a:srgbClr val="CCFBF1"/>
          </a:solidFill>
          <a:ln>
            <a:solidFill>
              <a:srgbClr val="CCFB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F766E"/>
                </a:solidFill>
                <a:latin typeface="Microsoft YaHei"/>
              </a:defRPr>
            </a:pPr>
            <a:r>
              <a:t>属性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274320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280160"/>
            <a:ext cx="73152" cy="1143000"/>
          </a:xfrm>
          <a:prstGeom prst="rect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1435607"/>
            <a:ext cx="2359152" cy="2926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defRPr sz="1400" b="1">
                <a:solidFill>
                  <a:srgbClr val="0F172A"/>
                </a:solidFill>
                <a:latin typeface="Microsoft YaHei"/>
              </a:defRPr>
            </a:pPr>
            <a:r>
              <a:t>USER.md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1847088"/>
            <a:ext cx="2359152" cy="4572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spcAft>
                <a:spcPts val="500"/>
              </a:spcAft>
              <a:defRPr sz="1150">
                <a:solidFill>
                  <a:srgbClr val="475569"/>
                </a:solidFill>
                <a:latin typeface="Microsoft YaHei"/>
              </a:defRPr>
            </a:pPr>
            <a:r>
              <a:t>自动提取 tag</a:t>
            </a:r>
          </a:p>
          <a:p>
            <a:pPr>
              <a:spcAft>
                <a:spcPts val="500"/>
              </a:spcAft>
              <a:defRPr sz="1150">
                <a:solidFill>
                  <a:srgbClr val="475569"/>
                </a:solidFill>
                <a:latin typeface="Microsoft YaHei"/>
              </a:defRPr>
            </a:pPr>
            <a:r>
              <a:t>只读，不修改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977639" y="1280160"/>
            <a:ext cx="274320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977639" y="1280160"/>
            <a:ext cx="73152" cy="114300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78807" y="1435607"/>
            <a:ext cx="2359152" cy="2926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defRPr sz="1400" b="1">
                <a:solidFill>
                  <a:srgbClr val="0F172A"/>
                </a:solidFill>
                <a:latin typeface="Microsoft YaHei"/>
              </a:defRPr>
            </a:pPr>
            <a:r>
              <a:t>user-profile.json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78807" y="1847088"/>
            <a:ext cx="2359152" cy="4572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spcAft>
                <a:spcPts val="500"/>
              </a:spcAft>
              <a:defRPr sz="1150">
                <a:solidFill>
                  <a:srgbClr val="475569"/>
                </a:solidFill>
                <a:latin typeface="Microsoft YaHei"/>
              </a:defRPr>
            </a:pPr>
            <a:r>
              <a:t>手动结构化属性</a:t>
            </a:r>
          </a:p>
          <a:p>
            <a:pPr>
              <a:spcAft>
                <a:spcPts val="500"/>
              </a:spcAft>
              <a:defRPr sz="1150">
                <a:solidFill>
                  <a:srgbClr val="475569"/>
                </a:solidFill>
                <a:latin typeface="Microsoft YaHei"/>
              </a:defRPr>
            </a:pPr>
            <a:r>
              <a:t>group / project / role / skill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223760" y="1280160"/>
            <a:ext cx="274320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223760" y="1280160"/>
            <a:ext cx="73152" cy="1143000"/>
          </a:xfrm>
          <a:prstGeom prst="rect">
            <a:avLst/>
          </a:prstGeom>
          <a:solidFill>
            <a:srgbClr val="16A34A"/>
          </a:solidFill>
          <a:ln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24928" y="1435607"/>
            <a:ext cx="2359152" cy="2926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defRPr sz="1400" b="1">
                <a:solidFill>
                  <a:srgbClr val="0F172A"/>
                </a:solidFill>
                <a:latin typeface="Microsoft YaHei"/>
              </a:defRPr>
            </a:pPr>
            <a:r>
              <a:t>instance-announce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24928" y="1847088"/>
            <a:ext cx="2359152" cy="4572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spcAft>
                <a:spcPts val="500"/>
              </a:spcAft>
              <a:defRPr sz="1150">
                <a:solidFill>
                  <a:srgbClr val="475569"/>
                </a:solidFill>
                <a:latin typeface="Microsoft YaHei"/>
              </a:defRPr>
            </a:pPr>
            <a:r>
              <a:t>合并后广播</a:t>
            </a:r>
          </a:p>
          <a:p>
            <a:pPr>
              <a:spcAft>
                <a:spcPts val="500"/>
              </a:spcAft>
              <a:defRPr sz="1150">
                <a:solidFill>
                  <a:srgbClr val="475569"/>
                </a:solidFill>
                <a:latin typeface="Microsoft YaHei"/>
              </a:defRPr>
            </a:pPr>
            <a:r>
              <a:t>远端缓存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3566160" y="1828800"/>
            <a:ext cx="274320" cy="0"/>
          </a:xfrm>
          <a:prstGeom prst="line">
            <a:avLst/>
          </a:prstGeom>
          <a:ln w="2540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6812280" y="1828800"/>
            <a:ext cx="274320" cy="0"/>
          </a:xfrm>
          <a:prstGeom prst="line">
            <a:avLst/>
          </a:prstGeom>
          <a:ln w="2540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914400" y="3063240"/>
            <a:ext cx="9966960" cy="17830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78992" y="3200400"/>
            <a:ext cx="9637776" cy="150876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spcAft>
                <a:spcPts val="200"/>
              </a:spcAft>
              <a:defRPr sz="1050">
                <a:solidFill>
                  <a:srgbClr val="E2E8F0"/>
                </a:solidFill>
                <a:latin typeface="Cascadia Mono"/>
              </a:defRPr>
            </a:pPr>
            <a:r>
              <a:t>"userPublicAttributes": [</a:t>
            </a:r>
          </a:p>
          <a:p>
            <a:pPr>
              <a:spcAft>
                <a:spcPts val="200"/>
              </a:spcAft>
              <a:defRPr sz="1050">
                <a:solidFill>
                  <a:srgbClr val="E2E8F0"/>
                </a:solidFill>
                <a:latin typeface="Cascadia Mono"/>
              </a:defRPr>
            </a:pPr>
            <a:r>
              <a:t>  { "kind": "tag", "value": "P2P", "source": "USER.md" },</a:t>
            </a:r>
          </a:p>
          <a:p>
            <a:pPr>
              <a:spcAft>
                <a:spcPts val="200"/>
              </a:spcAft>
              <a:defRPr sz="1050">
                <a:solidFill>
                  <a:srgbClr val="E2E8F0"/>
                </a:solidFill>
                <a:latin typeface="Cascadia Mono"/>
              </a:defRPr>
            </a:pPr>
            <a:r>
              <a:t>  { "kind": "structured", "key": "group", "value": "实验室", "source": "profile" }</a:t>
            </a:r>
          </a:p>
          <a:p>
            <a:pPr>
              <a:spcAft>
                <a:spcPts val="200"/>
              </a:spcAft>
              <a:defRPr sz="1050">
                <a:solidFill>
                  <a:srgbClr val="E2E8F0"/>
                </a:solidFill>
                <a:latin typeface="Cascadia Mono"/>
              </a:defRPr>
            </a:pPr>
            <a:r>
              <a:t>]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510528"/>
            <a:ext cx="4937760" cy="20116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defRPr sz="800" b="0">
                <a:solidFill>
                  <a:srgbClr val="475569"/>
                </a:solidFill>
                <a:latin typeface="Microsoft YaHei"/>
              </a:defRPr>
            </a:pPr>
            <a:r>
              <a:t>OpenClaw libp2p-mesh / 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8412480" cy="5029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Microsoft YaHei"/>
              </a:defRPr>
            </a:pPr>
            <a:r>
              <a:t>功能五：USER.md 属性自动提取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41248"/>
            <a:ext cx="8778240" cy="329184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defRPr sz="1200" b="0">
                <a:solidFill>
                  <a:srgbClr val="475569"/>
                </a:solidFill>
                <a:latin typeface="Microsoft YaHei"/>
              </a:defRPr>
            </a:pPr>
            <a:r>
              <a:t>使用 OpenClaw runtime LLM 能力提取更稳定的公开 tag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509760" y="384048"/>
            <a:ext cx="2011680" cy="329184"/>
          </a:xfrm>
          <a:prstGeom prst="roundRect">
            <a:avLst/>
          </a:prstGeom>
          <a:solidFill>
            <a:srgbClr val="CCFBF1"/>
          </a:solidFill>
          <a:ln>
            <a:solidFill>
              <a:srgbClr val="CCFB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F766E"/>
                </a:solidFill>
                <a:latin typeface="Microsoft YaHei"/>
              </a:defRPr>
            </a:pPr>
            <a:r>
              <a:t>属性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234440"/>
            <a:ext cx="233172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234440"/>
            <a:ext cx="73152" cy="1051560"/>
          </a:xfrm>
          <a:prstGeom prst="rect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78408" y="1389888"/>
            <a:ext cx="1947672" cy="2926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defRPr sz="1400" b="1">
                <a:solidFill>
                  <a:srgbClr val="0F172A"/>
                </a:solidFill>
                <a:latin typeface="Microsoft YaHei"/>
              </a:defRPr>
            </a:pPr>
            <a:r>
              <a:t>读取 USER.md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8408" y="1801368"/>
            <a:ext cx="1947672" cy="365759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spcAft>
                <a:spcPts val="500"/>
              </a:spcAft>
              <a:defRPr sz="1150">
                <a:solidFill>
                  <a:srgbClr val="475569"/>
                </a:solidFill>
                <a:latin typeface="Microsoft YaHei"/>
              </a:defRPr>
            </a:pPr>
            <a:r>
              <a:t>OpenClaw workspace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11880" y="1234440"/>
            <a:ext cx="233172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11880" y="1234440"/>
            <a:ext cx="73152" cy="105156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13048" y="1389888"/>
            <a:ext cx="1947672" cy="2926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defRPr sz="1400" b="1">
                <a:solidFill>
                  <a:srgbClr val="0F172A"/>
                </a:solidFill>
                <a:latin typeface="Microsoft YaHei"/>
              </a:defRPr>
            </a:pPr>
            <a:r>
              <a:t>llm.complete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13048" y="1801368"/>
            <a:ext cx="1947672" cy="365759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spcAft>
                <a:spcPts val="500"/>
              </a:spcAft>
              <a:defRPr sz="1150">
                <a:solidFill>
                  <a:srgbClr val="475569"/>
                </a:solidFill>
                <a:latin typeface="Microsoft YaHei"/>
              </a:defRPr>
            </a:pPr>
            <a:r>
              <a:t>使用已配置模型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46520" y="1234440"/>
            <a:ext cx="233172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46520" y="1234440"/>
            <a:ext cx="73152" cy="1051560"/>
          </a:xfrm>
          <a:prstGeom prst="rect">
            <a:avLst/>
          </a:prstGeom>
          <a:solidFill>
            <a:srgbClr val="D97706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47688" y="1389888"/>
            <a:ext cx="1947672" cy="2926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defRPr sz="1400" b="1">
                <a:solidFill>
                  <a:srgbClr val="0F172A"/>
                </a:solidFill>
                <a:latin typeface="Microsoft YaHei"/>
              </a:defRPr>
            </a:pPr>
            <a:r>
              <a:t>校验 JSON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47688" y="1801368"/>
            <a:ext cx="1947672" cy="365759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spcAft>
                <a:spcPts val="500"/>
              </a:spcAft>
              <a:defRPr sz="1150">
                <a:solidFill>
                  <a:srgbClr val="475569"/>
                </a:solidFill>
                <a:latin typeface="Microsoft YaHei"/>
              </a:defRPr>
            </a:pPr>
            <a:r>
              <a:t>过滤无效输出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281160" y="1234440"/>
            <a:ext cx="233172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281160" y="1234440"/>
            <a:ext cx="73152" cy="1051560"/>
          </a:xfrm>
          <a:prstGeom prst="rect">
            <a:avLst/>
          </a:prstGeom>
          <a:solidFill>
            <a:srgbClr val="16A34A"/>
          </a:solidFill>
          <a:ln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82328" y="1389888"/>
            <a:ext cx="1947672" cy="2926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defRPr sz="1400" b="1">
                <a:solidFill>
                  <a:srgbClr val="0F172A"/>
                </a:solidFill>
                <a:latin typeface="Microsoft YaHei"/>
              </a:defRPr>
            </a:pPr>
            <a:r>
              <a:t>合并广播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82328" y="1801368"/>
            <a:ext cx="1947672" cy="365759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spcAft>
                <a:spcPts val="500"/>
              </a:spcAft>
              <a:defRPr sz="1150">
                <a:solidFill>
                  <a:srgbClr val="475569"/>
                </a:solidFill>
                <a:latin typeface="Microsoft YaHei"/>
              </a:defRPr>
            </a:pPr>
            <a:r>
              <a:t>tag + profile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3200400" y="1755648"/>
            <a:ext cx="292608" cy="0"/>
          </a:xfrm>
          <a:prstGeom prst="line">
            <a:avLst/>
          </a:prstGeom>
          <a:ln w="2540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6035040" y="1755648"/>
            <a:ext cx="292608" cy="0"/>
          </a:xfrm>
          <a:prstGeom prst="line">
            <a:avLst/>
          </a:prstGeom>
          <a:ln w="2540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8869680" y="1755648"/>
            <a:ext cx="292608" cy="0"/>
          </a:xfrm>
          <a:prstGeom prst="line">
            <a:avLst/>
          </a:prstGeom>
          <a:ln w="2540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914400" y="3063240"/>
            <a:ext cx="9966960" cy="178308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spcAft>
                <a:spcPts val="900"/>
              </a:spcAft>
              <a:defRPr sz="1700">
                <a:solidFill>
                  <a:srgbClr val="0F172A"/>
                </a:solidFill>
                <a:latin typeface="Microsoft YaHei"/>
              </a:defRPr>
            </a:pPr>
            <a:r>
              <a:t>插件不保存模型 API key，也不直接选择模型供应商。</a:t>
            </a:r>
          </a:p>
          <a:p>
            <a:pPr>
              <a:spcAft>
                <a:spcPts val="900"/>
              </a:spcAft>
              <a:defRPr sz="1700">
                <a:solidFill>
                  <a:srgbClr val="0F172A"/>
                </a:solidFill>
                <a:latin typeface="Microsoft YaHei"/>
              </a:defRPr>
            </a:pPr>
            <a:r>
              <a:t>提取结果只作为公开属性广播，不写回 USER.md。</a:t>
            </a:r>
          </a:p>
          <a:p>
            <a:pPr>
              <a:spcAft>
                <a:spcPts val="900"/>
              </a:spcAft>
              <a:defRPr sz="1700">
                <a:solidFill>
                  <a:srgbClr val="0F172A"/>
                </a:solidFill>
                <a:latin typeface="Microsoft YaHei"/>
              </a:defRPr>
            </a:pPr>
            <a:r>
              <a:t>基于内容 hash 缓存，避免重复提取。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6510528"/>
            <a:ext cx="4937760" cy="20116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defRPr sz="800" b="0">
                <a:solidFill>
                  <a:srgbClr val="475569"/>
                </a:solidFill>
                <a:latin typeface="Microsoft YaHei"/>
              </a:defRPr>
            </a:pPr>
            <a:r>
              <a:t>OpenClaw libp2p-mesh / 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8412480" cy="5029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Microsoft YaHei"/>
              </a:defRPr>
            </a:pPr>
            <a:r>
              <a:t>功能六：本地 peer labels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41248"/>
            <a:ext cx="8778240" cy="329184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defRPr sz="1200" b="0">
                <a:solidFill>
                  <a:srgbClr val="475569"/>
                </a:solidFill>
                <a:latin typeface="Microsoft YaHei"/>
              </a:defRPr>
            </a:pPr>
            <a:r>
              <a:t>把“对方公开的属性”和“我本地的分类”分开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509760" y="384048"/>
            <a:ext cx="2011680" cy="329184"/>
          </a:xfrm>
          <a:prstGeom prst="roundRect">
            <a:avLst/>
          </a:prstGeom>
          <a:solidFill>
            <a:srgbClr val="CCFBF1"/>
          </a:solidFill>
          <a:ln>
            <a:solidFill>
              <a:srgbClr val="CCFB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F766E"/>
                </a:solidFill>
                <a:latin typeface="Microsoft YaHei"/>
              </a:defRPr>
            </a:pPr>
            <a:r>
              <a:t>标签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234440"/>
            <a:ext cx="4389120" cy="868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41832" y="1371600"/>
            <a:ext cx="4059935" cy="594359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spcAft>
                <a:spcPts val="200"/>
              </a:spcAft>
              <a:defRPr sz="1050">
                <a:solidFill>
                  <a:srgbClr val="E2E8F0"/>
                </a:solidFill>
                <a:latin typeface="Cascadia Mono"/>
              </a:defRPr>
            </a:pPr>
            <a:r>
              <a:t>openclaw libp2p-mesh labels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2606040"/>
            <a:ext cx="301752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68680" y="2606040"/>
            <a:ext cx="73152" cy="1234440"/>
          </a:xfrm>
          <a:prstGeom prst="rect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69848" y="2761488"/>
            <a:ext cx="2633472" cy="2926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defRPr sz="1400" b="1">
                <a:solidFill>
                  <a:srgbClr val="0F172A"/>
                </a:solidFill>
                <a:latin typeface="Microsoft YaHei"/>
              </a:defRPr>
            </a:pPr>
            <a:r>
              <a:t>公开属性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9848" y="3172968"/>
            <a:ext cx="2633472" cy="54864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spcAft>
                <a:spcPts val="500"/>
              </a:spcAft>
              <a:defRPr sz="1150">
                <a:solidFill>
                  <a:srgbClr val="475569"/>
                </a:solidFill>
                <a:latin typeface="Microsoft YaHei"/>
              </a:defRPr>
            </a:pPr>
            <a:r>
              <a:t>对方自己公开</a:t>
            </a:r>
          </a:p>
          <a:p>
            <a:pPr>
              <a:spcAft>
                <a:spcPts val="500"/>
              </a:spcAft>
              <a:defRPr sz="1150">
                <a:solidFill>
                  <a:srgbClr val="475569"/>
                </a:solidFill>
                <a:latin typeface="Microsoft YaHei"/>
              </a:defRPr>
            </a:pPr>
            <a:r>
              <a:t>随 announce 传播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26280" y="2606040"/>
            <a:ext cx="301752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26280" y="2606040"/>
            <a:ext cx="73152" cy="1234440"/>
          </a:xfrm>
          <a:prstGeom prst="rect">
            <a:avLst/>
          </a:prstGeom>
          <a:solidFill>
            <a:srgbClr val="16A34A"/>
          </a:solidFill>
          <a:ln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27448" y="2761488"/>
            <a:ext cx="2633472" cy="2926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defRPr sz="1400" b="1">
                <a:solidFill>
                  <a:srgbClr val="0F172A"/>
                </a:solidFill>
                <a:latin typeface="Microsoft YaHei"/>
              </a:defRPr>
            </a:pPr>
            <a:r>
              <a:t>本地 labels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27448" y="3172968"/>
            <a:ext cx="2633472" cy="54864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spcAft>
                <a:spcPts val="500"/>
              </a:spcAft>
              <a:defRPr sz="1150">
                <a:solidFill>
                  <a:srgbClr val="475569"/>
                </a:solidFill>
                <a:latin typeface="Microsoft YaHei"/>
              </a:defRPr>
            </a:pPr>
            <a:r>
              <a:t>我对远端实例的归类</a:t>
            </a:r>
          </a:p>
          <a:p>
            <a:pPr>
              <a:spcAft>
                <a:spcPts val="500"/>
              </a:spcAft>
              <a:defRPr sz="1150">
                <a:solidFill>
                  <a:srgbClr val="475569"/>
                </a:solidFill>
                <a:latin typeface="Microsoft YaHei"/>
              </a:defRPr>
            </a:pPr>
            <a:r>
              <a:t>只保存在本机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83879" y="2606040"/>
            <a:ext cx="301752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83879" y="2606040"/>
            <a:ext cx="73152" cy="123444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85048" y="2761488"/>
            <a:ext cx="2633472" cy="2926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defRPr sz="1400" b="1">
                <a:solidFill>
                  <a:srgbClr val="0F172A"/>
                </a:solidFill>
                <a:latin typeface="Microsoft YaHei"/>
              </a:defRPr>
            </a:pPr>
            <a:r>
              <a:t>使用场景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85048" y="3172968"/>
            <a:ext cx="2633472" cy="54864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spcAft>
                <a:spcPts val="500"/>
              </a:spcAft>
              <a:defRPr sz="1150">
                <a:solidFill>
                  <a:srgbClr val="475569"/>
                </a:solidFill>
                <a:latin typeface="Microsoft YaHei"/>
              </a:defRPr>
            </a:pPr>
            <a:r>
              <a:t>实验室成员</a:t>
            </a:r>
          </a:p>
          <a:p>
            <a:pPr>
              <a:spcAft>
                <a:spcPts val="500"/>
              </a:spcAft>
              <a:defRPr sz="1150">
                <a:solidFill>
                  <a:srgbClr val="475569"/>
                </a:solidFill>
                <a:latin typeface="Microsoft YaHei"/>
              </a:defRPr>
            </a:pPr>
            <a:r>
              <a:t>项目协作者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4709160"/>
            <a:ext cx="9875520" cy="38404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defRPr sz="1500" b="0">
                <a:solidFill>
                  <a:srgbClr val="475569"/>
                </a:solidFill>
                <a:latin typeface="Cascadia Mono"/>
              </a:defRPr>
            </a:pPr>
            <a:r>
              <a:t>存储位置：~/.openclaw/libp2p/peer-labels.json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510528"/>
            <a:ext cx="4937760" cy="20116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defRPr sz="800" b="0">
                <a:solidFill>
                  <a:srgbClr val="475569"/>
                </a:solidFill>
                <a:latin typeface="Microsoft YaHei"/>
              </a:defRPr>
            </a:pPr>
            <a:r>
              <a:t>OpenClaw libp2p-mesh /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8412480" cy="5029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Microsoft YaHei"/>
              </a:defRPr>
            </a:pPr>
            <a:r>
              <a:t>功能七：按属性发送消息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41248"/>
            <a:ext cx="8778240" cy="329184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defRPr sz="1200" b="0">
                <a:solidFill>
                  <a:srgbClr val="475569"/>
                </a:solidFill>
                <a:latin typeface="Microsoft YaHei"/>
              </a:defRPr>
            </a:pPr>
            <a:r>
              <a:t>从“指定某台机器”扩展到“发送给某类用户”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509760" y="384048"/>
            <a:ext cx="2011680" cy="329184"/>
          </a:xfrm>
          <a:prstGeom prst="roundRect">
            <a:avLst/>
          </a:prstGeom>
          <a:solidFill>
            <a:srgbClr val="CCFBF1"/>
          </a:solidFill>
          <a:ln>
            <a:solidFill>
              <a:srgbClr val="CCFB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F766E"/>
                </a:solidFill>
                <a:latin typeface="Microsoft YaHei"/>
              </a:defRPr>
            </a:pPr>
            <a:r>
              <a:t>发送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234440"/>
            <a:ext cx="4846320" cy="164592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41832" y="1371600"/>
            <a:ext cx="4517136" cy="1371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spcAft>
                <a:spcPts val="200"/>
              </a:spcAft>
              <a:defRPr sz="1050">
                <a:solidFill>
                  <a:srgbClr val="E2E8F0"/>
                </a:solidFill>
                <a:latin typeface="Cascadia Mono"/>
              </a:defRPr>
            </a:pPr>
            <a:r>
              <a:t>p2p_send_user_attribute_message</a:t>
            </a:r>
          </a:p>
          <a:p>
            <a:pPr>
              <a:spcAft>
                <a:spcPts val="200"/>
              </a:spcAft>
              <a:defRPr sz="1050">
                <a:solidFill>
                  <a:srgbClr val="E2E8F0"/>
                </a:solidFill>
                <a:latin typeface="Cascadia Mono"/>
              </a:defRPr>
            </a:pPr>
            <a:r>
              <a:t>selector = "group=实验室"</a:t>
            </a:r>
          </a:p>
          <a:p>
            <a:pPr>
              <a:spcAft>
                <a:spcPts val="200"/>
              </a:spcAft>
              <a:defRPr sz="1050">
                <a:solidFill>
                  <a:srgbClr val="E2E8F0"/>
                </a:solidFill>
                <a:latin typeface="Cascadia Mono"/>
              </a:defRPr>
            </a:pPr>
            <a:r>
              <a:t>scope = "public" | "local" | "all"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1234440"/>
            <a:ext cx="160020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172200" y="1234440"/>
            <a:ext cx="73152" cy="1005840"/>
          </a:xfrm>
          <a:prstGeom prst="rect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73368" y="1389888"/>
            <a:ext cx="1216152" cy="2926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defRPr sz="1400" b="1">
                <a:solidFill>
                  <a:srgbClr val="0F172A"/>
                </a:solidFill>
                <a:latin typeface="Microsoft YaHei"/>
              </a:defRPr>
            </a:pPr>
            <a:r>
              <a:t>public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73368" y="1801368"/>
            <a:ext cx="1216152" cy="32004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spcAft>
                <a:spcPts val="500"/>
              </a:spcAft>
              <a:defRPr sz="1150">
                <a:solidFill>
                  <a:srgbClr val="475569"/>
                </a:solidFill>
                <a:latin typeface="Microsoft YaHei"/>
              </a:defRPr>
            </a:pPr>
            <a:r>
              <a:t>公开属性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92440" y="1234440"/>
            <a:ext cx="160020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92440" y="1234440"/>
            <a:ext cx="73152" cy="1005840"/>
          </a:xfrm>
          <a:prstGeom prst="rect">
            <a:avLst/>
          </a:prstGeom>
          <a:solidFill>
            <a:srgbClr val="16A34A"/>
          </a:solidFill>
          <a:ln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93608" y="1389888"/>
            <a:ext cx="1216152" cy="2926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defRPr sz="1400" b="1">
                <a:solidFill>
                  <a:srgbClr val="0F172A"/>
                </a:solidFill>
                <a:latin typeface="Microsoft YaHei"/>
              </a:defRPr>
            </a:pPr>
            <a:r>
              <a:t>local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93608" y="1801368"/>
            <a:ext cx="1216152" cy="32004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spcAft>
                <a:spcPts val="500"/>
              </a:spcAft>
              <a:defRPr sz="1150">
                <a:solidFill>
                  <a:srgbClr val="475569"/>
                </a:solidFill>
                <a:latin typeface="Microsoft YaHei"/>
              </a:defRPr>
            </a:pPr>
            <a:r>
              <a:t>本地标签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012680" y="1234440"/>
            <a:ext cx="160020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0012680" y="1234440"/>
            <a:ext cx="73152" cy="100584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213848" y="1389888"/>
            <a:ext cx="1216152" cy="2926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defRPr sz="1400" b="1">
                <a:solidFill>
                  <a:srgbClr val="0F172A"/>
                </a:solidFill>
                <a:latin typeface="Microsoft YaHei"/>
              </a:defRPr>
            </a:pPr>
            <a:r>
              <a:t>all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13848" y="1801368"/>
            <a:ext cx="1216152" cy="32004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spcAft>
                <a:spcPts val="500"/>
              </a:spcAft>
              <a:defRPr sz="1150">
                <a:solidFill>
                  <a:srgbClr val="475569"/>
                </a:solidFill>
                <a:latin typeface="Microsoft YaHei"/>
              </a:defRPr>
            </a:pPr>
            <a:r>
              <a:t>两个来源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72200" y="2926080"/>
            <a:ext cx="5166360" cy="18288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spcAft>
                <a:spcPts val="900"/>
              </a:spcAft>
              <a:defRPr sz="1600">
                <a:solidFill>
                  <a:srgbClr val="0F172A"/>
                </a:solidFill>
                <a:latin typeface="Microsoft YaHei"/>
              </a:defRPr>
            </a:pPr>
            <a:r>
              <a:t>先 dry run 预览匹配实例。</a:t>
            </a:r>
          </a:p>
          <a:p>
            <a:pPr>
              <a:spcAft>
                <a:spcPts val="900"/>
              </a:spcAft>
              <a:defRPr sz="1600">
                <a:solidFill>
                  <a:srgbClr val="0F172A"/>
                </a:solidFill>
                <a:latin typeface="Microsoft YaHei"/>
              </a:defRPr>
            </a:pPr>
            <a:r>
              <a:t>实际发送复用 instanceId 消息投递和 ACK 机制。</a:t>
            </a:r>
          </a:p>
          <a:p>
            <a:pPr>
              <a:spcAft>
                <a:spcPts val="900"/>
              </a:spcAft>
              <a:defRPr sz="1600">
                <a:solidFill>
                  <a:srgbClr val="0F172A"/>
                </a:solidFill>
                <a:latin typeface="Microsoft YaHei"/>
              </a:defRPr>
            </a:pPr>
            <a:r>
              <a:t>selector 支持 group=实验室、project=ResearchLoop、tag:P2P、#P2P。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510528"/>
            <a:ext cx="4937760" cy="20116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defRPr sz="800" b="0">
                <a:solidFill>
                  <a:srgbClr val="475569"/>
                </a:solidFill>
                <a:latin typeface="Microsoft YaHei"/>
              </a:defRPr>
            </a:pPr>
            <a:r>
              <a:t>OpenClaw libp2p-mesh /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8412480" cy="5029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Microsoft YaHei"/>
              </a:defRPr>
            </a:pPr>
            <a:r>
              <a:t>典型使用流程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41248"/>
            <a:ext cx="8778240" cy="329184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defRPr sz="1200" b="0">
                <a:solidFill>
                  <a:srgbClr val="475569"/>
                </a:solidFill>
                <a:latin typeface="Microsoft YaHei"/>
              </a:defRPr>
            </a:pPr>
            <a:r>
              <a:t>从安装到按属性发送的用户路径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509760" y="384048"/>
            <a:ext cx="2011680" cy="329184"/>
          </a:xfrm>
          <a:prstGeom prst="roundRect">
            <a:avLst/>
          </a:prstGeom>
          <a:solidFill>
            <a:srgbClr val="CCFBF1"/>
          </a:solidFill>
          <a:ln>
            <a:solidFill>
              <a:srgbClr val="CCFB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F766E"/>
                </a:solidFill>
                <a:latin typeface="Microsoft YaHei"/>
              </a:defRPr>
            </a:pPr>
            <a:r>
              <a:t>流程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828800"/>
            <a:ext cx="1874519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828800"/>
            <a:ext cx="73152" cy="1554480"/>
          </a:xfrm>
          <a:prstGeom prst="rect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6968" y="1984248"/>
            <a:ext cx="1490472" cy="2926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defRPr sz="1400" b="1">
                <a:solidFill>
                  <a:srgbClr val="0F172A"/>
                </a:solidFill>
                <a:latin typeface="Microsoft YaHei"/>
              </a:defRPr>
            </a:pPr>
            <a:r>
              <a:t>1. 安装/更新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2395728"/>
            <a:ext cx="1490472" cy="86868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spcAft>
                <a:spcPts val="500"/>
              </a:spcAft>
              <a:defRPr sz="1150">
                <a:solidFill>
                  <a:srgbClr val="475569"/>
                </a:solidFill>
                <a:latin typeface="Microsoft YaHei"/>
              </a:defRPr>
            </a:pPr>
            <a:r>
              <a:t>openclaw plugins update libp2p-mesh@latest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587752" y="2606040"/>
            <a:ext cx="274320" cy="0"/>
          </a:xfrm>
          <a:prstGeom prst="line">
            <a:avLst/>
          </a:prstGeom>
          <a:ln w="2540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2971800" y="1828800"/>
            <a:ext cx="1874519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971800" y="1828800"/>
            <a:ext cx="73152" cy="155448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172968" y="1984248"/>
            <a:ext cx="1490472" cy="2926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defRPr sz="1400" b="1">
                <a:solidFill>
                  <a:srgbClr val="0F172A"/>
                </a:solidFill>
                <a:latin typeface="Microsoft YaHei"/>
              </a:defRPr>
            </a:pPr>
            <a:r>
              <a:t>2. 配置插件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72968" y="2395728"/>
            <a:ext cx="1490472" cy="86868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spcAft>
                <a:spcPts val="500"/>
              </a:spcAft>
              <a:defRPr sz="1150">
                <a:solidFill>
                  <a:srgbClr val="475569"/>
                </a:solidFill>
                <a:latin typeface="Microsoft YaHei"/>
              </a:defRPr>
            </a:pPr>
            <a:r>
              <a:t>openclaw libp2p-mesh setup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873752" y="2606040"/>
            <a:ext cx="274320" cy="0"/>
          </a:xfrm>
          <a:prstGeom prst="line">
            <a:avLst/>
          </a:prstGeom>
          <a:ln w="2540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5257800" y="1828800"/>
            <a:ext cx="1874519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257800" y="1828800"/>
            <a:ext cx="73152" cy="1554480"/>
          </a:xfrm>
          <a:prstGeom prst="rect">
            <a:avLst/>
          </a:prstGeom>
          <a:solidFill>
            <a:srgbClr val="16A34A"/>
          </a:solidFill>
          <a:ln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58968" y="1984248"/>
            <a:ext cx="1490472" cy="2926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defRPr sz="1400" b="1">
                <a:solidFill>
                  <a:srgbClr val="0F172A"/>
                </a:solidFill>
                <a:latin typeface="Microsoft YaHei"/>
              </a:defRPr>
            </a:pPr>
            <a:r>
              <a:t>3. 安装提示词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58968" y="2395728"/>
            <a:ext cx="1490472" cy="86868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spcAft>
                <a:spcPts val="500"/>
              </a:spcAft>
              <a:defRPr sz="1150">
                <a:solidFill>
                  <a:srgbClr val="475569"/>
                </a:solidFill>
                <a:latin typeface="Microsoft YaHei"/>
              </a:defRPr>
            </a:pPr>
            <a:r>
              <a:t>openclaw libp2p-mesh prompt install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159752" y="2606040"/>
            <a:ext cx="274319" cy="0"/>
          </a:xfrm>
          <a:prstGeom prst="line">
            <a:avLst/>
          </a:prstGeom>
          <a:ln w="2540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7543800" y="1828800"/>
            <a:ext cx="1874519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543800" y="1828800"/>
            <a:ext cx="73152" cy="1554480"/>
          </a:xfrm>
          <a:prstGeom prst="rect">
            <a:avLst/>
          </a:prstGeom>
          <a:solidFill>
            <a:srgbClr val="D97706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44968" y="1984248"/>
            <a:ext cx="1490472" cy="2926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defRPr sz="1400" b="1">
                <a:solidFill>
                  <a:srgbClr val="0F172A"/>
                </a:solidFill>
                <a:latin typeface="Microsoft YaHei"/>
              </a:defRPr>
            </a:pPr>
            <a:r>
              <a:t>4. 配置属性/标签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44968" y="2395728"/>
            <a:ext cx="1490472" cy="86868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spcAft>
                <a:spcPts val="500"/>
              </a:spcAft>
              <a:defRPr sz="1150">
                <a:solidFill>
                  <a:srgbClr val="475569"/>
                </a:solidFill>
                <a:latin typeface="Microsoft YaHei"/>
              </a:defRPr>
            </a:pPr>
            <a:r>
              <a:t>profile / labels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9445752" y="2606040"/>
            <a:ext cx="274320" cy="0"/>
          </a:xfrm>
          <a:prstGeom prst="line">
            <a:avLst/>
          </a:prstGeom>
          <a:ln w="2540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9829800" y="1828800"/>
            <a:ext cx="1874519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829800" y="1828800"/>
            <a:ext cx="73152" cy="1554480"/>
          </a:xfrm>
          <a:prstGeom prst="rect">
            <a:avLst/>
          </a:prstGeom>
          <a:solidFill>
            <a:srgbClr val="334155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030968" y="1984248"/>
            <a:ext cx="1490472" cy="2926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defRPr sz="1400" b="1">
                <a:solidFill>
                  <a:srgbClr val="0F172A"/>
                </a:solidFill>
                <a:latin typeface="Microsoft YaHei"/>
              </a:defRPr>
            </a:pPr>
            <a:r>
              <a:t>5. 启动 gateway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30968" y="2395728"/>
            <a:ext cx="1490472" cy="86868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spcAft>
                <a:spcPts val="500"/>
              </a:spcAft>
              <a:defRPr sz="1150">
                <a:solidFill>
                  <a:srgbClr val="475569"/>
                </a:solidFill>
                <a:latin typeface="Microsoft YaHei"/>
              </a:defRPr>
            </a:pPr>
            <a:r>
              <a:t>按 instanceId 或属性发送消息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6510528"/>
            <a:ext cx="4937760" cy="20116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defRPr sz="800" b="0">
                <a:solidFill>
                  <a:srgbClr val="475569"/>
                </a:solidFill>
                <a:latin typeface="Microsoft YaHei"/>
              </a:defRPr>
            </a:pPr>
            <a:r>
              <a:t>OpenClaw libp2p-mesh /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8412480" cy="5029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Microsoft YaHei"/>
              </a:defRPr>
            </a:pPr>
            <a:r>
              <a:t>总结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41248"/>
            <a:ext cx="8778240" cy="329184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defRPr sz="1200" b="0">
                <a:solidFill>
                  <a:srgbClr val="475569"/>
                </a:solidFill>
                <a:latin typeface="Microsoft YaHei"/>
              </a:defRPr>
            </a:pPr>
            <a:r>
              <a:t>本周完成了 P2P 插件从通信能力到协作能力的升级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509760" y="384048"/>
            <a:ext cx="2011680" cy="329184"/>
          </a:xfrm>
          <a:prstGeom prst="roundRect">
            <a:avLst/>
          </a:prstGeom>
          <a:solidFill>
            <a:srgbClr val="CCFBF1"/>
          </a:solidFill>
          <a:ln>
            <a:solidFill>
              <a:srgbClr val="CCFB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F766E"/>
                </a:solidFill>
                <a:latin typeface="Microsoft YaHei"/>
              </a:defRPr>
            </a:pPr>
            <a:r>
              <a:t>总结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417320"/>
            <a:ext cx="310896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417320"/>
            <a:ext cx="73152" cy="1417320"/>
          </a:xfrm>
          <a:prstGeom prst="rect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78408" y="1572768"/>
            <a:ext cx="2724912" cy="2926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defRPr sz="1400" b="1">
                <a:solidFill>
                  <a:srgbClr val="0F172A"/>
                </a:solidFill>
                <a:latin typeface="Microsoft YaHei"/>
              </a:defRPr>
            </a:pPr>
            <a:r>
              <a:t>更好配置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8408" y="1984248"/>
            <a:ext cx="2724912" cy="7315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spcAft>
                <a:spcPts val="500"/>
              </a:spcAft>
              <a:defRPr sz="1150">
                <a:solidFill>
                  <a:srgbClr val="475569"/>
                </a:solidFill>
                <a:latin typeface="Microsoft YaHei"/>
              </a:defRPr>
            </a:pPr>
            <a:r>
              <a:t>setup / prompt install</a:t>
            </a:r>
          </a:p>
          <a:p>
            <a:pPr>
              <a:spcAft>
                <a:spcPts val="500"/>
              </a:spcAft>
              <a:defRPr sz="1150">
                <a:solidFill>
                  <a:srgbClr val="475569"/>
                </a:solidFill>
                <a:latin typeface="Microsoft YaHei"/>
              </a:defRPr>
            </a:pPr>
            <a:r>
              <a:t>降低安装和配置门槛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26280" y="1417320"/>
            <a:ext cx="310896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26280" y="1417320"/>
            <a:ext cx="73152" cy="141732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27448" y="1572768"/>
            <a:ext cx="2724912" cy="2926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defRPr sz="1400" b="1">
                <a:solidFill>
                  <a:srgbClr val="0F172A"/>
                </a:solidFill>
                <a:latin typeface="Microsoft YaHei"/>
              </a:defRPr>
            </a:pPr>
            <a:r>
              <a:t>更好投递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27448" y="1984248"/>
            <a:ext cx="2724912" cy="7315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spcAft>
                <a:spcPts val="500"/>
              </a:spcAft>
              <a:defRPr sz="1150">
                <a:solidFill>
                  <a:srgbClr val="475569"/>
                </a:solidFill>
                <a:latin typeface="Microsoft YaHei"/>
              </a:defRPr>
            </a:pPr>
            <a:r>
              <a:t>多入站目标</a:t>
            </a:r>
          </a:p>
          <a:p>
            <a:pPr>
              <a:spcAft>
                <a:spcPts val="500"/>
              </a:spcAft>
              <a:defRPr sz="1150">
                <a:solidFill>
                  <a:srgbClr val="475569"/>
                </a:solidFill>
                <a:latin typeface="Microsoft YaHei"/>
              </a:defRPr>
            </a:pPr>
            <a:r>
              <a:t>接收方本地 fan-out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75320" y="1417320"/>
            <a:ext cx="310896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75320" y="1417320"/>
            <a:ext cx="73152" cy="1417320"/>
          </a:xfrm>
          <a:prstGeom prst="rect">
            <a:avLst/>
          </a:prstGeom>
          <a:solidFill>
            <a:srgbClr val="16A34A"/>
          </a:solidFill>
          <a:ln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76488" y="1572768"/>
            <a:ext cx="2724912" cy="2926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defRPr sz="1400" b="1">
                <a:solidFill>
                  <a:srgbClr val="0F172A"/>
                </a:solidFill>
                <a:latin typeface="Microsoft YaHei"/>
              </a:defRPr>
            </a:pPr>
            <a:r>
              <a:t>更好寻址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76488" y="1984248"/>
            <a:ext cx="2724912" cy="7315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spcAft>
                <a:spcPts val="500"/>
              </a:spcAft>
              <a:defRPr sz="1150">
                <a:solidFill>
                  <a:srgbClr val="475569"/>
                </a:solidFill>
                <a:latin typeface="Microsoft YaHei"/>
              </a:defRPr>
            </a:pPr>
            <a:r>
              <a:t>公开属性 + 本地 labels</a:t>
            </a:r>
          </a:p>
          <a:p>
            <a:pPr>
              <a:spcAft>
                <a:spcPts val="500"/>
              </a:spcAft>
              <a:defRPr sz="1150">
                <a:solidFill>
                  <a:srgbClr val="475569"/>
                </a:solidFill>
                <a:latin typeface="Microsoft YaHei"/>
              </a:defRPr>
            </a:pPr>
            <a:r>
              <a:t>按属性发送消息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3749039"/>
            <a:ext cx="9875520" cy="123444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spcAft>
                <a:spcPts val="900"/>
              </a:spcAft>
              <a:defRPr sz="1800">
                <a:solidFill>
                  <a:srgbClr val="0F172A"/>
                </a:solidFill>
                <a:latin typeface="Microsoft YaHei"/>
              </a:defRPr>
            </a:pPr>
            <a:r>
              <a:t>核心价值：用户不必记住底层 peerId，也不必关心远端 channel 细节。</a:t>
            </a:r>
          </a:p>
          <a:p>
            <a:pPr>
              <a:spcAft>
                <a:spcPts val="900"/>
              </a:spcAft>
              <a:defRPr sz="1800">
                <a:solidFill>
                  <a:srgbClr val="0F172A"/>
                </a:solidFill>
                <a:latin typeface="Microsoft YaHei"/>
              </a:defRPr>
            </a:pPr>
            <a:r>
              <a:t>插件把网络发现、实例路由、属性匹配和 channel 投递组合成一个可用的 P2P 协作流程。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510528"/>
            <a:ext cx="4937760" cy="20116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defRPr sz="800" b="0">
                <a:solidFill>
                  <a:srgbClr val="475569"/>
                </a:solidFill>
                <a:latin typeface="Microsoft YaHei"/>
              </a:defRPr>
            </a:pPr>
            <a:r>
              <a:t>OpenClaw libp2p-mesh / 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